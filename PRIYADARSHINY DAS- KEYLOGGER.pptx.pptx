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rebuchet MS" charset="1" panose="020B0603020202020204"/>
      <p:regular r:id="rId15"/>
    </p:embeddedFont>
    <p:embeddedFont>
      <p:font typeface="Trebuchet MS Bold" charset="1" panose="020B0703020202020204"/>
      <p:regular r:id="rId16"/>
    </p:embeddedFont>
    <p:embeddedFont>
      <p:font typeface="Times New Roman MT" charset="1" panose="02030502070405020303"/>
      <p:regular r:id="rId17"/>
    </p:embeddedFont>
    <p:embeddedFont>
      <p:font typeface="Times New Roman MT Bold" charset="1" panose="020308020704050203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https://github.com/PERSONAL-PROJECTS-2000/KEYLOG.git" TargetMode="External" Type="http://schemas.openxmlformats.org/officeDocument/2006/relationships/hyperlink"/><Relationship Id="rId6" Target="https://github.com/PERSONAL-PROJECTS-2000/KEYLOG.git"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4" y="2074213"/>
            <a:ext cx="1844349" cy="1589956"/>
            <a:chOff x="0" y="0"/>
            <a:chExt cx="2459132" cy="2119942"/>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a:ln w="12700">
              <a:solidFill>
                <a:srgbClr val="000000"/>
              </a:solidFill>
            </a:ln>
          </p:spPr>
        </p:sp>
      </p:grpSp>
      <p:grpSp>
        <p:nvGrpSpPr>
          <p:cNvPr name="Group 31" id="31"/>
          <p:cNvGrpSpPr/>
          <p:nvPr/>
        </p:nvGrpSpPr>
        <p:grpSpPr>
          <a:xfrm rot="0">
            <a:off x="5632546" y="1791930"/>
            <a:ext cx="2499243" cy="2154520"/>
            <a:chOff x="0" y="0"/>
            <a:chExt cx="3332324" cy="2872694"/>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a:ln w="12700">
              <a:solidFill>
                <a:srgbClr val="000000"/>
              </a:solidFill>
            </a:ln>
          </p:spPr>
        </p:sp>
      </p:grpSp>
      <p:grpSp>
        <p:nvGrpSpPr>
          <p:cNvPr name="Group 33" id="33"/>
          <p:cNvGrpSpPr/>
          <p:nvPr/>
        </p:nvGrpSpPr>
        <p:grpSpPr>
          <a:xfrm rot="0">
            <a:off x="5707491" y="7849774"/>
            <a:ext cx="1077391" cy="928786"/>
            <a:chOff x="0" y="0"/>
            <a:chExt cx="1436522" cy="1238382"/>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a:ln w="12700">
              <a:solidFill>
                <a:srgbClr val="000000"/>
              </a:solidFill>
            </a:ln>
          </p:spPr>
        </p:sp>
      </p:grpSp>
      <p:grpSp>
        <p:nvGrpSpPr>
          <p:cNvPr name="Group 35" id="35"/>
          <p:cNvGrpSpPr/>
          <p:nvPr/>
        </p:nvGrpSpPr>
        <p:grpSpPr>
          <a:xfrm rot="0">
            <a:off x="2756757" y="1651959"/>
            <a:ext cx="977420" cy="842604"/>
            <a:chOff x="0" y="0"/>
            <a:chExt cx="1303226" cy="1123472"/>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a:ln w="12700">
              <a:solidFill>
                <a:srgbClr val="000000"/>
              </a:solidFill>
            </a:ln>
          </p:spPr>
        </p:sp>
      </p:grpSp>
      <p:grpSp>
        <p:nvGrpSpPr>
          <p:cNvPr name="Group 37" id="37"/>
          <p:cNvGrpSpPr>
            <a:grpSpLocks noChangeAspect="true"/>
          </p:cNvGrpSpPr>
          <p:nvPr/>
        </p:nvGrpSpPr>
        <p:grpSpPr>
          <a:xfrm rot="0">
            <a:off x="1013936" y="9707880"/>
            <a:ext cx="3214688" cy="289560"/>
            <a:chOff x="0" y="0"/>
            <a:chExt cx="4286250" cy="386080"/>
          </a:xfrm>
        </p:grpSpPr>
        <p:sp>
          <p:nvSpPr>
            <p:cNvPr name="Freeform 38" id="3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grpSp>
        <p:nvGrpSpPr>
          <p:cNvPr name="Group 39" id="39"/>
          <p:cNvGrpSpPr/>
          <p:nvPr/>
        </p:nvGrpSpPr>
        <p:grpSpPr>
          <a:xfrm rot="0">
            <a:off x="673099" y="1022350"/>
            <a:ext cx="13376269" cy="8229600"/>
            <a:chOff x="0" y="0"/>
            <a:chExt cx="3522968" cy="2167467"/>
          </a:xfrm>
        </p:grpSpPr>
        <p:sp>
          <p:nvSpPr>
            <p:cNvPr name="Freeform 40" id="40"/>
            <p:cNvSpPr/>
            <p:nvPr/>
          </p:nvSpPr>
          <p:spPr>
            <a:xfrm flipH="false" flipV="false" rot="0">
              <a:off x="0" y="0"/>
              <a:ext cx="3522968" cy="2167467"/>
            </a:xfrm>
            <a:custGeom>
              <a:avLst/>
              <a:gdLst/>
              <a:ahLst/>
              <a:cxnLst/>
              <a:rect r="r" b="b" t="t" l="l"/>
              <a:pathLst>
                <a:path h="2167467" w="3522968">
                  <a:moveTo>
                    <a:pt x="29518" y="0"/>
                  </a:moveTo>
                  <a:lnTo>
                    <a:pt x="3493450" y="0"/>
                  </a:lnTo>
                  <a:cubicBezTo>
                    <a:pt x="3509752" y="0"/>
                    <a:pt x="3522968" y="13216"/>
                    <a:pt x="3522968" y="29518"/>
                  </a:cubicBezTo>
                  <a:lnTo>
                    <a:pt x="3522968" y="2137949"/>
                  </a:lnTo>
                  <a:cubicBezTo>
                    <a:pt x="3522968" y="2154251"/>
                    <a:pt x="3509752" y="2167467"/>
                    <a:pt x="3493450" y="2167467"/>
                  </a:cubicBezTo>
                  <a:lnTo>
                    <a:pt x="29518" y="2167467"/>
                  </a:lnTo>
                  <a:cubicBezTo>
                    <a:pt x="13216" y="2167467"/>
                    <a:pt x="0" y="2154251"/>
                    <a:pt x="0" y="2137949"/>
                  </a:cubicBezTo>
                  <a:lnTo>
                    <a:pt x="0" y="29518"/>
                  </a:lnTo>
                  <a:cubicBezTo>
                    <a:pt x="0" y="13216"/>
                    <a:pt x="13216" y="0"/>
                    <a:pt x="29518"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522968" cy="2176992"/>
            </a:xfrm>
            <a:prstGeom prst="rect">
              <a:avLst/>
            </a:prstGeom>
          </p:spPr>
          <p:txBody>
            <a:bodyPr anchor="ctr" rtlCol="false" tIns="50800" lIns="50800" bIns="50800" rIns="50800"/>
            <a:lstStyle/>
            <a:p>
              <a:pPr algn="ctr">
                <a:lnSpc>
                  <a:spcPts val="1980"/>
                </a:lnSpc>
              </a:pPr>
            </a:p>
          </p:txBody>
        </p:sp>
      </p:grpSp>
      <p:sp>
        <p:nvSpPr>
          <p:cNvPr name="TextBox 42" id="42"/>
          <p:cNvSpPr txBox="true"/>
          <p:nvPr/>
        </p:nvSpPr>
        <p:spPr>
          <a:xfrm rot="0">
            <a:off x="2504402" y="5784775"/>
            <a:ext cx="8755532" cy="1838325"/>
          </a:xfrm>
          <a:prstGeom prst="rect">
            <a:avLst/>
          </a:prstGeom>
        </p:spPr>
        <p:txBody>
          <a:bodyPr anchor="t" rtlCol="false" tIns="0" lIns="0" bIns="0" rIns="0">
            <a:spAutoFit/>
          </a:bodyPr>
          <a:lstStyle/>
          <a:p>
            <a:pPr algn="ctr">
              <a:lnSpc>
                <a:spcPts val="3600"/>
              </a:lnSpc>
            </a:pPr>
            <a:r>
              <a:rPr lang="en-US" sz="3000">
                <a:solidFill>
                  <a:srgbClr val="000000"/>
                </a:solidFill>
                <a:latin typeface="Trebuchet MS"/>
                <a:ea typeface="Trebuchet MS"/>
                <a:cs typeface="Trebuchet MS"/>
                <a:sym typeface="Trebuchet MS"/>
              </a:rPr>
              <a:t>PRIYADARSHINY DAS</a:t>
            </a:r>
          </a:p>
          <a:p>
            <a:pPr algn="ctr">
              <a:lnSpc>
                <a:spcPts val="3600"/>
              </a:lnSpc>
            </a:pPr>
            <a:r>
              <a:rPr lang="en-US" sz="3000">
                <a:solidFill>
                  <a:srgbClr val="000000"/>
                </a:solidFill>
                <a:latin typeface="Trebuchet MS"/>
                <a:ea typeface="Trebuchet MS"/>
                <a:cs typeface="Trebuchet MS"/>
                <a:sym typeface="Trebuchet MS"/>
              </a:rPr>
              <a:t>Techno Main Salt Lake</a:t>
            </a:r>
          </a:p>
          <a:p>
            <a:pPr algn="ctr">
              <a:lnSpc>
                <a:spcPts val="3600"/>
              </a:lnSpc>
            </a:pPr>
            <a:r>
              <a:rPr lang="en-US" sz="3000">
                <a:solidFill>
                  <a:srgbClr val="000000"/>
                </a:solidFill>
                <a:latin typeface="Trebuchet MS"/>
                <a:ea typeface="Trebuchet MS"/>
                <a:cs typeface="Trebuchet MS"/>
                <a:sym typeface="Trebuchet MS"/>
              </a:rPr>
              <a:t>B.Tech in Computer Science And Engineering- Cyber Security (2024-2028)</a:t>
            </a:r>
          </a:p>
        </p:txBody>
      </p:sp>
      <p:sp>
        <p:nvSpPr>
          <p:cNvPr name="TextBox 43" id="43"/>
          <p:cNvSpPr txBox="true"/>
          <p:nvPr/>
        </p:nvSpPr>
        <p:spPr>
          <a:xfrm rot="0">
            <a:off x="751078" y="2136700"/>
            <a:ext cx="13220311" cy="1809750"/>
          </a:xfrm>
          <a:prstGeom prst="rect">
            <a:avLst/>
          </a:prstGeom>
        </p:spPr>
        <p:txBody>
          <a:bodyPr anchor="t" rtlCol="false" tIns="0" lIns="0" bIns="0" rIns="0">
            <a:spAutoFit/>
          </a:bodyPr>
          <a:lstStyle/>
          <a:p>
            <a:pPr algn="ctr">
              <a:lnSpc>
                <a:spcPts val="7199"/>
              </a:lnSpc>
            </a:pPr>
            <a:r>
              <a:rPr lang="en-US" sz="5999">
                <a:solidFill>
                  <a:srgbClr val="000000"/>
                </a:solidFill>
                <a:latin typeface="Trebuchet MS"/>
                <a:ea typeface="Trebuchet MS"/>
                <a:cs typeface="Trebuchet MS"/>
                <a:sym typeface="Trebuchet MS"/>
              </a:rPr>
              <a:t>KEYSTROKE LOGGING DEMONSTRATION- KEYSTROKE LOGGER</a:t>
            </a:r>
          </a:p>
        </p:txBody>
      </p:sp>
      <p:sp>
        <p:nvSpPr>
          <p:cNvPr name="TextBox 44" id="44"/>
          <p:cNvSpPr txBox="true"/>
          <p:nvPr/>
        </p:nvSpPr>
        <p:spPr>
          <a:xfrm rot="0">
            <a:off x="2504402" y="4815676"/>
            <a:ext cx="8755532" cy="466725"/>
          </a:xfrm>
          <a:prstGeom prst="rect">
            <a:avLst/>
          </a:prstGeom>
        </p:spPr>
        <p:txBody>
          <a:bodyPr anchor="t" rtlCol="false" tIns="0" lIns="0" bIns="0" rIns="0">
            <a:spAutoFit/>
          </a:bodyPr>
          <a:lstStyle/>
          <a:p>
            <a:pPr algn="ctr">
              <a:lnSpc>
                <a:spcPts val="3600"/>
              </a:lnSpc>
            </a:pPr>
            <a:r>
              <a:rPr lang="en-US" sz="3000">
                <a:solidFill>
                  <a:srgbClr val="000000"/>
                </a:solidFill>
                <a:latin typeface="Trebuchet MS"/>
                <a:ea typeface="Trebuchet MS"/>
                <a:cs typeface="Trebuchet MS"/>
                <a:sym typeface="Trebuchet MS"/>
              </a:rPr>
              <a:t>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1993526" y="4396251"/>
            <a:ext cx="4141137" cy="4896614"/>
            <a:chOff x="0" y="0"/>
            <a:chExt cx="5521516" cy="6528818"/>
          </a:xfrm>
        </p:grpSpPr>
        <p:sp>
          <p:nvSpPr>
            <p:cNvPr name="Freeform 36" id="36"/>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2"/>
              <a:stretch>
                <a:fillRect l="0" t="0" r="1" b="0"/>
              </a:stretch>
            </a:blipFill>
          </p:spPr>
        </p:sp>
      </p:grpSp>
      <p:grpSp>
        <p:nvGrpSpPr>
          <p:cNvPr name="Group 37" id="37"/>
          <p:cNvGrpSpPr>
            <a:grpSpLocks noChangeAspect="true"/>
          </p:cNvGrpSpPr>
          <p:nvPr/>
        </p:nvGrpSpPr>
        <p:grpSpPr>
          <a:xfrm rot="0">
            <a:off x="1013936" y="9707880"/>
            <a:ext cx="3214688" cy="289560"/>
            <a:chOff x="0" y="0"/>
            <a:chExt cx="4286250" cy="386080"/>
          </a:xfrm>
        </p:grpSpPr>
        <p:sp>
          <p:nvSpPr>
            <p:cNvPr name="Freeform 38" id="3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9" id="39"/>
          <p:cNvGrpSpPr/>
          <p:nvPr/>
        </p:nvGrpSpPr>
        <p:grpSpPr>
          <a:xfrm rot="0">
            <a:off x="376776" y="462554"/>
            <a:ext cx="12574048" cy="8830310"/>
            <a:chOff x="0" y="0"/>
            <a:chExt cx="3311683" cy="2325678"/>
          </a:xfrm>
        </p:grpSpPr>
        <p:sp>
          <p:nvSpPr>
            <p:cNvPr name="Freeform 40" id="40"/>
            <p:cNvSpPr/>
            <p:nvPr/>
          </p:nvSpPr>
          <p:spPr>
            <a:xfrm flipH="false" flipV="false" rot="0">
              <a:off x="0" y="0"/>
              <a:ext cx="3311684" cy="2325678"/>
            </a:xfrm>
            <a:custGeom>
              <a:avLst/>
              <a:gdLst/>
              <a:ahLst/>
              <a:cxnLst/>
              <a:rect r="r" b="b" t="t" l="l"/>
              <a:pathLst>
                <a:path h="2325678" w="3311684">
                  <a:moveTo>
                    <a:pt x="31401" y="0"/>
                  </a:moveTo>
                  <a:lnTo>
                    <a:pt x="3280282" y="0"/>
                  </a:lnTo>
                  <a:cubicBezTo>
                    <a:pt x="3297625" y="0"/>
                    <a:pt x="3311684" y="14059"/>
                    <a:pt x="3311684" y="31401"/>
                  </a:cubicBezTo>
                  <a:lnTo>
                    <a:pt x="3311684" y="2294277"/>
                  </a:lnTo>
                  <a:cubicBezTo>
                    <a:pt x="3311684" y="2311620"/>
                    <a:pt x="3297625" y="2325678"/>
                    <a:pt x="3280282" y="2325678"/>
                  </a:cubicBezTo>
                  <a:lnTo>
                    <a:pt x="31401" y="2325678"/>
                  </a:lnTo>
                  <a:cubicBezTo>
                    <a:pt x="14059" y="2325678"/>
                    <a:pt x="0" y="2311620"/>
                    <a:pt x="0" y="2294277"/>
                  </a:cubicBezTo>
                  <a:lnTo>
                    <a:pt x="0" y="31401"/>
                  </a:lnTo>
                  <a:cubicBezTo>
                    <a:pt x="0" y="14059"/>
                    <a:pt x="14059" y="0"/>
                    <a:pt x="31401"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311683" cy="2335203"/>
            </a:xfrm>
            <a:prstGeom prst="rect">
              <a:avLst/>
            </a:prstGeom>
          </p:spPr>
          <p:txBody>
            <a:bodyPr anchor="ctr" rtlCol="false" tIns="50800" lIns="50800" bIns="50800" rIns="50800"/>
            <a:lstStyle/>
            <a:p>
              <a:pPr algn="ctr">
                <a:lnSpc>
                  <a:spcPts val="1980"/>
                </a:lnSpc>
              </a:pPr>
            </a:p>
          </p:txBody>
        </p:sp>
      </p:grpSp>
      <p:grpSp>
        <p:nvGrpSpPr>
          <p:cNvPr name="Group 42" id="42"/>
          <p:cNvGrpSpPr/>
          <p:nvPr/>
        </p:nvGrpSpPr>
        <p:grpSpPr>
          <a:xfrm rot="0">
            <a:off x="673099" y="2240303"/>
            <a:ext cx="11967800" cy="6606304"/>
            <a:chOff x="0" y="0"/>
            <a:chExt cx="3152013" cy="1739932"/>
          </a:xfrm>
        </p:grpSpPr>
        <p:sp>
          <p:nvSpPr>
            <p:cNvPr name="Freeform 43" id="43"/>
            <p:cNvSpPr/>
            <p:nvPr/>
          </p:nvSpPr>
          <p:spPr>
            <a:xfrm flipH="false" flipV="false" rot="0">
              <a:off x="0" y="0"/>
              <a:ext cx="3152013" cy="1739932"/>
            </a:xfrm>
            <a:custGeom>
              <a:avLst/>
              <a:gdLst/>
              <a:ahLst/>
              <a:cxnLst/>
              <a:rect r="r" b="b" t="t" l="l"/>
              <a:pathLst>
                <a:path h="1739932" w="3152013">
                  <a:moveTo>
                    <a:pt x="32992" y="0"/>
                  </a:moveTo>
                  <a:lnTo>
                    <a:pt x="3119022" y="0"/>
                  </a:lnTo>
                  <a:cubicBezTo>
                    <a:pt x="3137242" y="0"/>
                    <a:pt x="3152013" y="14771"/>
                    <a:pt x="3152013" y="32992"/>
                  </a:cubicBezTo>
                  <a:lnTo>
                    <a:pt x="3152013" y="1706940"/>
                  </a:lnTo>
                  <a:cubicBezTo>
                    <a:pt x="3152013" y="1725161"/>
                    <a:pt x="3137242" y="1739932"/>
                    <a:pt x="3119022" y="1739932"/>
                  </a:cubicBezTo>
                  <a:lnTo>
                    <a:pt x="32992" y="1739932"/>
                  </a:lnTo>
                  <a:cubicBezTo>
                    <a:pt x="14771" y="1739932"/>
                    <a:pt x="0" y="1725161"/>
                    <a:pt x="0" y="1706940"/>
                  </a:cubicBezTo>
                  <a:lnTo>
                    <a:pt x="0" y="32992"/>
                  </a:lnTo>
                  <a:cubicBezTo>
                    <a:pt x="0" y="14771"/>
                    <a:pt x="14771" y="0"/>
                    <a:pt x="32992" y="0"/>
                  </a:cubicBezTo>
                  <a:close/>
                </a:path>
              </a:pathLst>
            </a:custGeom>
            <a:solidFill>
              <a:srgbClr val="000000">
                <a:alpha val="0"/>
              </a:srgbClr>
            </a:solidFill>
            <a:ln w="38100" cap="rnd">
              <a:solidFill>
                <a:srgbClr val="000000"/>
              </a:solidFill>
              <a:prstDash val="solid"/>
              <a:round/>
            </a:ln>
          </p:spPr>
        </p:sp>
        <p:sp>
          <p:nvSpPr>
            <p:cNvPr name="TextBox 44" id="44"/>
            <p:cNvSpPr txBox="true"/>
            <p:nvPr/>
          </p:nvSpPr>
          <p:spPr>
            <a:xfrm>
              <a:off x="0" y="-38100"/>
              <a:ext cx="3152013" cy="1778032"/>
            </a:xfrm>
            <a:prstGeom prst="rect">
              <a:avLst/>
            </a:prstGeom>
          </p:spPr>
          <p:txBody>
            <a:bodyPr anchor="ctr" rtlCol="false" tIns="50800" lIns="50800" bIns="50800" rIns="50800"/>
            <a:lstStyle/>
            <a:p>
              <a:pPr algn="ctr">
                <a:lnSpc>
                  <a:spcPts val="1980"/>
                </a:lnSpc>
              </a:pPr>
            </a:p>
          </p:txBody>
        </p:sp>
      </p:grpSp>
      <p:sp>
        <p:nvSpPr>
          <p:cNvPr name="TextBox 45" id="45"/>
          <p:cNvSpPr txBox="true"/>
          <p:nvPr/>
        </p:nvSpPr>
        <p:spPr>
          <a:xfrm rot="0">
            <a:off x="1057227" y="2504980"/>
            <a:ext cx="11213147" cy="6010275"/>
          </a:xfrm>
          <a:prstGeom prst="rect">
            <a:avLst/>
          </a:prstGeom>
        </p:spPr>
        <p:txBody>
          <a:bodyPr anchor="t" rtlCol="false" tIns="0" lIns="0" bIns="0" rIns="0">
            <a:spAutoFit/>
          </a:bodyPr>
          <a:lstStyle/>
          <a:p>
            <a:pPr algn="ctr">
              <a:lnSpc>
                <a:spcPts val="3959"/>
              </a:lnSpc>
              <a:spcBef>
                <a:spcPct val="0"/>
              </a:spcBef>
            </a:pPr>
            <a:r>
              <a:rPr lang="en-US" sz="3299">
                <a:solidFill>
                  <a:srgbClr val="000000"/>
                </a:solidFill>
                <a:latin typeface="Times New Roman MT"/>
                <a:ea typeface="Times New Roman MT"/>
                <a:cs typeface="Times New Roman MT"/>
                <a:sym typeface="Times New Roman MT"/>
              </a:rPr>
              <a:t>Nowadays, for children’s safety, it is very important for parents to monitor the activities of their children on laptops or other electronic devices. This task becomes especially difficult when multiple applications (like games, homework apps, and web browsers) are being used. There is a need for a simple, non-invasive method to reliably capture and record everything typed on the computer, including search terms, usernames, and messages, regardless of which screen or program is active, in order to keep track of a child’s activity (online/offline) after a session has ended. Without a record, user activities cannot be monitored, which leaves a significant blind spot regarding the safety and appropriateness of children's interactions.</a:t>
            </a:r>
          </a:p>
        </p:txBody>
      </p:sp>
      <p:sp>
        <p:nvSpPr>
          <p:cNvPr name="TextBox 46" id="46"/>
          <p:cNvSpPr txBox="true"/>
          <p:nvPr/>
        </p:nvSpPr>
        <p:spPr>
          <a:xfrm rot="0">
            <a:off x="1223343" y="861821"/>
            <a:ext cx="10310526"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633959" y="502181"/>
            <a:ext cx="15393767" cy="9205700"/>
            <a:chOff x="0" y="0"/>
            <a:chExt cx="4054325" cy="2424546"/>
          </a:xfrm>
        </p:grpSpPr>
        <p:sp>
          <p:nvSpPr>
            <p:cNvPr name="Freeform 34" id="34"/>
            <p:cNvSpPr/>
            <p:nvPr/>
          </p:nvSpPr>
          <p:spPr>
            <a:xfrm flipH="false" flipV="false" rot="0">
              <a:off x="0" y="0"/>
              <a:ext cx="4054325" cy="2424546"/>
            </a:xfrm>
            <a:custGeom>
              <a:avLst/>
              <a:gdLst/>
              <a:ahLst/>
              <a:cxnLst/>
              <a:rect r="r" b="b" t="t" l="l"/>
              <a:pathLst>
                <a:path h="2424546" w="4054325">
                  <a:moveTo>
                    <a:pt x="25649" y="0"/>
                  </a:moveTo>
                  <a:lnTo>
                    <a:pt x="4028676" y="0"/>
                  </a:lnTo>
                  <a:cubicBezTo>
                    <a:pt x="4042842" y="0"/>
                    <a:pt x="4054325" y="11484"/>
                    <a:pt x="4054325" y="25649"/>
                  </a:cubicBezTo>
                  <a:lnTo>
                    <a:pt x="4054325" y="2398897"/>
                  </a:lnTo>
                  <a:cubicBezTo>
                    <a:pt x="4054325" y="2405700"/>
                    <a:pt x="4051623" y="2412224"/>
                    <a:pt x="4046813" y="2417034"/>
                  </a:cubicBezTo>
                  <a:cubicBezTo>
                    <a:pt x="4042003" y="2421844"/>
                    <a:pt x="4035479" y="2424546"/>
                    <a:pt x="4028676" y="2424546"/>
                  </a:cubicBezTo>
                  <a:lnTo>
                    <a:pt x="25649" y="2424546"/>
                  </a:lnTo>
                  <a:cubicBezTo>
                    <a:pt x="18847" y="2424546"/>
                    <a:pt x="12323" y="2421844"/>
                    <a:pt x="7512" y="2417034"/>
                  </a:cubicBezTo>
                  <a:cubicBezTo>
                    <a:pt x="2702" y="2412224"/>
                    <a:pt x="0" y="2405700"/>
                    <a:pt x="0" y="2398897"/>
                  </a:cubicBezTo>
                  <a:lnTo>
                    <a:pt x="0" y="25649"/>
                  </a:lnTo>
                  <a:cubicBezTo>
                    <a:pt x="0" y="18847"/>
                    <a:pt x="2702" y="12323"/>
                    <a:pt x="7512" y="7512"/>
                  </a:cubicBezTo>
                  <a:cubicBezTo>
                    <a:pt x="12323" y="2702"/>
                    <a:pt x="18847" y="0"/>
                    <a:pt x="25649" y="0"/>
                  </a:cubicBezTo>
                  <a:close/>
                </a:path>
              </a:pathLst>
            </a:custGeom>
            <a:gradFill rotWithShape="true">
              <a:gsLst>
                <a:gs pos="0">
                  <a:srgbClr val="CDFFD8">
                    <a:alpha val="50000"/>
                  </a:srgbClr>
                </a:gs>
                <a:gs pos="100000">
                  <a:srgbClr val="94B9FF">
                    <a:alpha val="50000"/>
                  </a:srgbClr>
                </a:gs>
              </a:gsLst>
              <a:lin ang="0"/>
            </a:gradFill>
          </p:spPr>
        </p:sp>
        <p:sp>
          <p:nvSpPr>
            <p:cNvPr name="TextBox 35" id="35"/>
            <p:cNvSpPr txBox="true"/>
            <p:nvPr/>
          </p:nvSpPr>
          <p:spPr>
            <a:xfrm>
              <a:off x="0" y="-9525"/>
              <a:ext cx="4054325" cy="2434071"/>
            </a:xfrm>
            <a:prstGeom prst="rect">
              <a:avLst/>
            </a:prstGeom>
          </p:spPr>
          <p:txBody>
            <a:bodyPr anchor="ctr" rtlCol="false" tIns="50800" lIns="50800" bIns="50800" rIns="50800"/>
            <a:lstStyle/>
            <a:p>
              <a:pPr algn="ctr">
                <a:lnSpc>
                  <a:spcPts val="1980"/>
                </a:lnSpc>
              </a:pPr>
            </a:p>
          </p:txBody>
        </p:sp>
      </p:grpSp>
      <p:grpSp>
        <p:nvGrpSpPr>
          <p:cNvPr name="Group 36" id="36"/>
          <p:cNvGrpSpPr/>
          <p:nvPr/>
        </p:nvGrpSpPr>
        <p:grpSpPr>
          <a:xfrm rot="0">
            <a:off x="14031686" y="8846607"/>
            <a:ext cx="269965" cy="269966"/>
            <a:chOff x="0" y="0"/>
            <a:chExt cx="359954" cy="359954"/>
          </a:xfrm>
        </p:grpSpPr>
        <p:sp>
          <p:nvSpPr>
            <p:cNvPr name="Freeform 37" id="37"/>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sp>
        <p:nvSpPr>
          <p:cNvPr name="TextBox 38" id="38"/>
          <p:cNvSpPr txBox="true"/>
          <p:nvPr/>
        </p:nvSpPr>
        <p:spPr>
          <a:xfrm rot="0">
            <a:off x="1082038" y="817970"/>
            <a:ext cx="8061962" cy="1971675"/>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Project Description</a:t>
            </a:r>
          </a:p>
          <a:p>
            <a:pPr algn="l">
              <a:lnSpc>
                <a:spcPts val="7776"/>
              </a:lnSpc>
            </a:pPr>
          </a:p>
        </p:txBody>
      </p:sp>
      <p:grpSp>
        <p:nvGrpSpPr>
          <p:cNvPr name="Group 39" id="39"/>
          <p:cNvGrpSpPr>
            <a:grpSpLocks noChangeAspect="true"/>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TextBox 41" id="41"/>
          <p:cNvSpPr txBox="true"/>
          <p:nvPr/>
        </p:nvSpPr>
        <p:spPr>
          <a:xfrm rot="0">
            <a:off x="1028700" y="2018120"/>
            <a:ext cx="14486308" cy="1495425"/>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Times New Roman MT"/>
                <a:ea typeface="Times New Roman MT"/>
                <a:cs typeface="Times New Roman MT"/>
                <a:sym typeface="Times New Roman MT"/>
              </a:rPr>
              <a:t>This project is a functional keystroke logger that</a:t>
            </a:r>
            <a:r>
              <a:rPr lang="en-US" sz="2399">
                <a:solidFill>
                  <a:srgbClr val="000000"/>
                </a:solidFill>
                <a:latin typeface="Times New Roman MT"/>
                <a:ea typeface="Times New Roman MT"/>
                <a:cs typeface="Times New Roman MT"/>
                <a:sym typeface="Times New Roman MT"/>
              </a:rPr>
              <a:t> captures all keyboard inputs across the operating system into a single, comprehensive log. It utilizes a</a:t>
            </a:r>
            <a:r>
              <a:rPr lang="en-US" sz="2399">
                <a:solidFill>
                  <a:srgbClr val="000000"/>
                </a:solidFill>
                <a:latin typeface="Times New Roman MT"/>
                <a:ea typeface="Times New Roman MT"/>
                <a:cs typeface="Times New Roman MT"/>
                <a:sym typeface="Times New Roman MT"/>
              </a:rPr>
              <a:t> simple </a:t>
            </a:r>
            <a:r>
              <a:rPr lang="en-US" sz="2399">
                <a:solidFill>
                  <a:srgbClr val="000000"/>
                </a:solidFill>
                <a:latin typeface="Times New Roman MT"/>
                <a:ea typeface="Times New Roman MT"/>
                <a:cs typeface="Times New Roman MT"/>
                <a:sym typeface="Times New Roman MT"/>
              </a:rPr>
              <a:t>w</a:t>
            </a:r>
            <a:r>
              <a:rPr lang="en-US" sz="2399">
                <a:solidFill>
                  <a:srgbClr val="000000"/>
                </a:solidFill>
                <a:latin typeface="Times New Roman MT"/>
                <a:ea typeface="Times New Roman MT"/>
                <a:cs typeface="Times New Roman MT"/>
                <a:sym typeface="Times New Roman MT"/>
              </a:rPr>
              <a:t>e</a:t>
            </a:r>
            <a:r>
              <a:rPr lang="en-US" sz="2399">
                <a:solidFill>
                  <a:srgbClr val="000000"/>
                </a:solidFill>
                <a:latin typeface="Times New Roman MT"/>
                <a:ea typeface="Times New Roman MT"/>
                <a:cs typeface="Times New Roman MT"/>
                <a:sym typeface="Times New Roman MT"/>
              </a:rPr>
              <a:t>b</a:t>
            </a:r>
            <a:r>
              <a:rPr lang="en-US" sz="2399">
                <a:solidFill>
                  <a:srgbClr val="000000"/>
                </a:solidFill>
                <a:latin typeface="Times New Roman MT"/>
                <a:ea typeface="Times New Roman MT"/>
                <a:cs typeface="Times New Roman MT"/>
                <a:sym typeface="Times New Roman MT"/>
              </a:rPr>
              <a:t> in</a:t>
            </a:r>
            <a:r>
              <a:rPr lang="en-US" sz="2399">
                <a:solidFill>
                  <a:srgbClr val="000000"/>
                </a:solidFill>
                <a:latin typeface="Times New Roman MT"/>
                <a:ea typeface="Times New Roman MT"/>
                <a:cs typeface="Times New Roman MT"/>
                <a:sym typeface="Times New Roman MT"/>
              </a:rPr>
              <a:t>ter</a:t>
            </a:r>
            <a:r>
              <a:rPr lang="en-US" sz="2399">
                <a:solidFill>
                  <a:srgbClr val="000000"/>
                </a:solidFill>
                <a:latin typeface="Times New Roman MT"/>
                <a:ea typeface="Times New Roman MT"/>
                <a:cs typeface="Times New Roman MT"/>
                <a:sym typeface="Times New Roman MT"/>
              </a:rPr>
              <a:t>f</a:t>
            </a:r>
            <a:r>
              <a:rPr lang="en-US" sz="2399">
                <a:solidFill>
                  <a:srgbClr val="000000"/>
                </a:solidFill>
                <a:latin typeface="Times New Roman MT"/>
                <a:ea typeface="Times New Roman MT"/>
                <a:cs typeface="Times New Roman MT"/>
                <a:sym typeface="Times New Roman MT"/>
              </a:rPr>
              <a:t>ace t</a:t>
            </a:r>
            <a:r>
              <a:rPr lang="en-US" sz="2399">
                <a:solidFill>
                  <a:srgbClr val="000000"/>
                </a:solidFill>
                <a:latin typeface="Times New Roman MT"/>
                <a:ea typeface="Times New Roman MT"/>
                <a:cs typeface="Times New Roman MT"/>
                <a:sym typeface="Times New Roman MT"/>
              </a:rPr>
              <a:t>o</a:t>
            </a:r>
            <a:r>
              <a:rPr lang="en-US" sz="2399">
                <a:solidFill>
                  <a:srgbClr val="000000"/>
                </a:solidFill>
                <a:latin typeface="Times New Roman MT"/>
                <a:ea typeface="Times New Roman MT"/>
                <a:cs typeface="Times New Roman MT"/>
                <a:sym typeface="Times New Roman MT"/>
              </a:rPr>
              <a:t> p</a:t>
            </a:r>
            <a:r>
              <a:rPr lang="en-US" sz="2399">
                <a:solidFill>
                  <a:srgbClr val="000000"/>
                </a:solidFill>
                <a:latin typeface="Times New Roman MT"/>
                <a:ea typeface="Times New Roman MT"/>
                <a:cs typeface="Times New Roman MT"/>
                <a:sym typeface="Times New Roman MT"/>
              </a:rPr>
              <a:t>r</a:t>
            </a:r>
            <a:r>
              <a:rPr lang="en-US" sz="2399">
                <a:solidFill>
                  <a:srgbClr val="000000"/>
                </a:solidFill>
                <a:latin typeface="Times New Roman MT"/>
                <a:ea typeface="Times New Roman MT"/>
                <a:cs typeface="Times New Roman MT"/>
                <a:sym typeface="Times New Roman MT"/>
              </a:rPr>
              <a:t>ovide user control, allowing the logging process to be cleanly started and stopped. Upon termination, the entire sequence of recorded characters and special keypresses is displayed, providing a complete audit trail of user activity during the session.</a:t>
            </a:r>
          </a:p>
        </p:txBody>
      </p:sp>
      <p:sp>
        <p:nvSpPr>
          <p:cNvPr name="TextBox 42" id="42"/>
          <p:cNvSpPr txBox="true"/>
          <p:nvPr/>
        </p:nvSpPr>
        <p:spPr>
          <a:xfrm rot="0">
            <a:off x="888643" y="3781788"/>
            <a:ext cx="14884400" cy="5600700"/>
          </a:xfrm>
          <a:prstGeom prst="rect">
            <a:avLst/>
          </a:prstGeom>
        </p:spPr>
        <p:txBody>
          <a:bodyPr anchor="t" rtlCol="false" tIns="0" lIns="0" bIns="0" rIns="0">
            <a:spAutoFit/>
          </a:bodyPr>
          <a:lstStyle/>
          <a:p>
            <a:pPr algn="l">
              <a:lnSpc>
                <a:spcPts val="3119"/>
              </a:lnSpc>
            </a:pPr>
            <a:r>
              <a:rPr lang="en-US" sz="2599" b="true">
                <a:solidFill>
                  <a:srgbClr val="000000"/>
                </a:solidFill>
                <a:latin typeface="Times New Roman MT Bold"/>
                <a:ea typeface="Times New Roman MT Bold"/>
                <a:cs typeface="Times New Roman MT Bold"/>
                <a:sym typeface="Times New Roman MT Bold"/>
              </a:rPr>
              <a:t>LOGIC AND ALGORITHMS</a:t>
            </a:r>
          </a:p>
          <a:p>
            <a:pPr algn="l">
              <a:lnSpc>
                <a:spcPts val="1920"/>
              </a:lnSpc>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Even</a:t>
            </a:r>
            <a:r>
              <a:rPr lang="en-US" b="true" sz="2399">
                <a:solidFill>
                  <a:srgbClr val="000000"/>
                </a:solidFill>
                <a:latin typeface="Times New Roman MT Bold"/>
                <a:ea typeface="Times New Roman MT Bold"/>
                <a:cs typeface="Times New Roman MT Bold"/>
                <a:sym typeface="Times New Roman MT Bold"/>
              </a:rPr>
              <a:t>t-Driven Pr</a:t>
            </a:r>
            <a:r>
              <a:rPr lang="en-US" b="true" sz="2399">
                <a:solidFill>
                  <a:srgbClr val="000000"/>
                </a:solidFill>
                <a:latin typeface="Times New Roman MT Bold"/>
                <a:ea typeface="Times New Roman MT Bold"/>
                <a:cs typeface="Times New Roman MT Bold"/>
                <a:sym typeface="Times New Roman MT Bold"/>
              </a:rPr>
              <a:t>ogramming: </a:t>
            </a:r>
            <a:r>
              <a:rPr lang="en-US" sz="2399">
                <a:solidFill>
                  <a:srgbClr val="000000"/>
                </a:solidFill>
                <a:latin typeface="Times New Roman MT"/>
                <a:ea typeface="Times New Roman MT"/>
                <a:cs typeface="Times New Roman MT"/>
                <a:sym typeface="Times New Roman MT"/>
              </a:rPr>
              <a:t>The entire application logic hinges on reacting to system-level events (key presses). </a:t>
            </a:r>
          </a:p>
          <a:p>
            <a:pPr algn="l">
              <a:lnSpc>
                <a:spcPts val="1199"/>
              </a:lnSpc>
              <a:spcBef>
                <a:spcPct val="0"/>
              </a:spcBef>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Listener/Callback Model: </a:t>
            </a:r>
            <a:r>
              <a:rPr lang="en-US" sz="2399">
                <a:solidFill>
                  <a:srgbClr val="000000"/>
                </a:solidFill>
                <a:latin typeface="Times New Roman MT"/>
                <a:ea typeface="Times New Roman MT"/>
                <a:cs typeface="Times New Roman MT"/>
                <a:sym typeface="Times New Roman MT"/>
              </a:rPr>
              <a:t>The </a:t>
            </a:r>
            <a:r>
              <a:rPr lang="en-US" b="true" sz="2399">
                <a:solidFill>
                  <a:srgbClr val="000000"/>
                </a:solidFill>
                <a:latin typeface="Times New Roman MT Bold"/>
                <a:ea typeface="Times New Roman MT Bold"/>
                <a:cs typeface="Times New Roman MT Bold"/>
                <a:sym typeface="Times New Roman MT Bold"/>
              </a:rPr>
              <a:t>pynput.keyboard.Listener </a:t>
            </a:r>
            <a:r>
              <a:rPr lang="en-US" sz="2399">
                <a:solidFill>
                  <a:srgbClr val="000000"/>
                </a:solidFill>
                <a:latin typeface="Times New Roman MT"/>
                <a:ea typeface="Times New Roman MT"/>
                <a:cs typeface="Times New Roman MT"/>
                <a:sym typeface="Times New Roman MT"/>
              </a:rPr>
              <a:t>runs continuously in the background, waiting for a hardware event. The </a:t>
            </a:r>
            <a:r>
              <a:rPr lang="en-US" b="true" sz="2399">
                <a:solidFill>
                  <a:srgbClr val="000000"/>
                </a:solidFill>
                <a:latin typeface="Times New Roman MT Bold"/>
                <a:ea typeface="Times New Roman MT Bold"/>
                <a:cs typeface="Times New Roman MT Bold"/>
                <a:sym typeface="Times New Roman MT Bold"/>
              </a:rPr>
              <a:t>on_press() </a:t>
            </a:r>
            <a:r>
              <a:rPr lang="en-US" sz="2399">
                <a:solidFill>
                  <a:srgbClr val="000000"/>
                </a:solidFill>
                <a:latin typeface="Times New Roman MT"/>
                <a:ea typeface="Times New Roman MT"/>
                <a:cs typeface="Times New Roman MT"/>
                <a:sym typeface="Times New Roman MT"/>
              </a:rPr>
              <a:t>callback function is executed every time a key is pressed. </a:t>
            </a:r>
          </a:p>
          <a:p>
            <a:pPr algn="l">
              <a:lnSpc>
                <a:spcPts val="1199"/>
              </a:lnSpc>
              <a:spcBef>
                <a:spcPct val="0"/>
              </a:spcBef>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Global State Management: </a:t>
            </a:r>
            <a:r>
              <a:rPr lang="en-US" sz="2399">
                <a:solidFill>
                  <a:srgbClr val="000000"/>
                </a:solidFill>
                <a:latin typeface="Times New Roman MT"/>
                <a:ea typeface="Times New Roman MT"/>
                <a:cs typeface="Times New Roman MT"/>
                <a:sym typeface="Times New Roman MT"/>
              </a:rPr>
              <a:t>A class</a:t>
            </a:r>
            <a:r>
              <a:rPr lang="en-US" b="true" sz="2399">
                <a:solidFill>
                  <a:srgbClr val="000000"/>
                </a:solidFill>
                <a:latin typeface="Times New Roman MT Bold"/>
                <a:ea typeface="Times New Roman MT Bold"/>
                <a:cs typeface="Times New Roman MT Bold"/>
                <a:sym typeface="Times New Roman MT Bold"/>
              </a:rPr>
              <a:t> (KeyloggerState) </a:t>
            </a:r>
            <a:r>
              <a:rPr lang="en-US" sz="2399">
                <a:solidFill>
                  <a:srgbClr val="000000"/>
                </a:solidFill>
                <a:latin typeface="Times New Roman MT"/>
                <a:ea typeface="Times New Roman MT"/>
                <a:cs typeface="Times New Roman MT"/>
                <a:sym typeface="Times New Roman MT"/>
              </a:rPr>
              <a:t>is used to maintain the program's critical data, specifically the </a:t>
            </a:r>
            <a:r>
              <a:rPr lang="en-US" b="true" sz="2399">
                <a:solidFill>
                  <a:srgbClr val="000000"/>
                </a:solidFill>
                <a:latin typeface="Times New Roman MT Bold"/>
                <a:ea typeface="Times New Roman MT Bold"/>
                <a:cs typeface="Times New Roman MT Bold"/>
                <a:sym typeface="Times New Roman MT Bold"/>
              </a:rPr>
              <a:t>log_string</a:t>
            </a:r>
            <a:r>
              <a:rPr lang="en-US" sz="2399">
                <a:solidFill>
                  <a:srgbClr val="000000"/>
                </a:solidFill>
                <a:latin typeface="Times New Roman MT"/>
                <a:ea typeface="Times New Roman MT"/>
                <a:cs typeface="Times New Roman MT"/>
                <a:sym typeface="Times New Roman MT"/>
              </a:rPr>
              <a:t> that accumulates all recorded input. A simple string concatenation is performed within the</a:t>
            </a:r>
            <a:r>
              <a:rPr lang="en-US" b="true" sz="2399">
                <a:solidFill>
                  <a:srgbClr val="000000"/>
                </a:solidFill>
                <a:latin typeface="Times New Roman MT Bold"/>
                <a:ea typeface="Times New Roman MT Bold"/>
                <a:cs typeface="Times New Roman MT Bold"/>
                <a:sym typeface="Times New Roman MT Bold"/>
              </a:rPr>
              <a:t> on_press handler: self.log_string += char</a:t>
            </a:r>
            <a:r>
              <a:rPr lang="en-US" sz="2399">
                <a:solidFill>
                  <a:srgbClr val="000000"/>
                </a:solidFill>
                <a:latin typeface="Times New Roman MT"/>
                <a:ea typeface="Times New Roman MT"/>
                <a:cs typeface="Times New Roman MT"/>
                <a:sym typeface="Times New Roman MT"/>
              </a:rPr>
              <a:t>. </a:t>
            </a:r>
          </a:p>
          <a:p>
            <a:pPr algn="l">
              <a:lnSpc>
                <a:spcPts val="1199"/>
              </a:lnSpc>
              <a:spcBef>
                <a:spcPct val="0"/>
              </a:spcBef>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Concurrency/Threa</a:t>
            </a:r>
            <a:r>
              <a:rPr lang="en-US" b="true" sz="2399">
                <a:solidFill>
                  <a:srgbClr val="000000"/>
                </a:solidFill>
                <a:latin typeface="Times New Roman MT Bold"/>
                <a:ea typeface="Times New Roman MT Bold"/>
                <a:cs typeface="Times New Roman MT Bold"/>
                <a:sym typeface="Times New Roman MT Bold"/>
              </a:rPr>
              <a:t>ding: </a:t>
            </a:r>
            <a:r>
              <a:rPr lang="en-US" sz="2399">
                <a:solidFill>
                  <a:srgbClr val="000000"/>
                </a:solidFill>
                <a:latin typeface="Times New Roman MT"/>
                <a:ea typeface="Times New Roman MT"/>
                <a:cs typeface="Times New Roman MT"/>
                <a:sym typeface="Times New Roman MT"/>
              </a:rPr>
              <a:t>The resource-intensive pynput listener must run simultaneously with the Gradio web server without blocking it.</a:t>
            </a:r>
            <a:r>
              <a:rPr lang="en-US" b="true" sz="2399">
                <a:solidFill>
                  <a:srgbClr val="000000"/>
                </a:solidFill>
                <a:latin typeface="Times New Roman MT Bold"/>
                <a:ea typeface="Times New Roman MT Bold"/>
                <a:cs typeface="Times New Roman MT Bold"/>
                <a:sym typeface="Times New Roman MT Bold"/>
              </a:rPr>
              <a:t> </a:t>
            </a:r>
            <a:r>
              <a:rPr lang="en-US" sz="2399">
                <a:solidFill>
                  <a:srgbClr val="000000"/>
                </a:solidFill>
                <a:latin typeface="Times New Roman MT"/>
                <a:ea typeface="Times New Roman MT"/>
                <a:cs typeface="Times New Roman MT"/>
                <a:sym typeface="Times New Roman MT"/>
              </a:rPr>
              <a:t>The listener is executed within a separate, non-blocking</a:t>
            </a:r>
            <a:r>
              <a:rPr lang="en-US" b="true" sz="2399">
                <a:solidFill>
                  <a:srgbClr val="000000"/>
                </a:solidFill>
                <a:latin typeface="Times New Roman MT Bold"/>
                <a:ea typeface="Times New Roman MT Bold"/>
                <a:cs typeface="Times New Roman MT Bold"/>
                <a:sym typeface="Times New Roman MT Bold"/>
              </a:rPr>
              <a:t> threading.Thread (start_listener_thread) </a:t>
            </a:r>
            <a:r>
              <a:rPr lang="en-US" sz="2399">
                <a:solidFill>
                  <a:srgbClr val="000000"/>
                </a:solidFill>
                <a:latin typeface="Times New Roman MT"/>
                <a:ea typeface="Times New Roman MT"/>
                <a:cs typeface="Times New Roman MT"/>
                <a:sym typeface="Times New Roman MT"/>
              </a:rPr>
              <a:t>and controlled via a shared boolean flag</a:t>
            </a:r>
            <a:r>
              <a:rPr lang="en-US" b="true" sz="2399">
                <a:solidFill>
                  <a:srgbClr val="000000"/>
                </a:solidFill>
                <a:latin typeface="Times New Roman MT Bold"/>
                <a:ea typeface="Times New Roman MT Bold"/>
                <a:cs typeface="Times New Roman MT Bold"/>
                <a:sym typeface="Times New Roman MT Bold"/>
              </a:rPr>
              <a:t> (logging_active)</a:t>
            </a:r>
            <a:r>
              <a:rPr lang="en-US" sz="2399">
                <a:solidFill>
                  <a:srgbClr val="000000"/>
                </a:solidFill>
                <a:latin typeface="Times New Roman MT"/>
                <a:ea typeface="Times New Roman MT"/>
                <a:cs typeface="Times New Roman MT"/>
                <a:sym typeface="Times New Roman MT"/>
              </a:rPr>
              <a:t>. </a:t>
            </a:r>
          </a:p>
          <a:p>
            <a:pPr algn="l">
              <a:lnSpc>
                <a:spcPts val="1199"/>
              </a:lnSpc>
              <a:spcBef>
                <a:spcPct val="0"/>
              </a:spcBef>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Thre</a:t>
            </a:r>
            <a:r>
              <a:rPr lang="en-US" b="true" sz="2399">
                <a:solidFill>
                  <a:srgbClr val="000000"/>
                </a:solidFill>
                <a:latin typeface="Times New Roman MT Bold"/>
                <a:ea typeface="Times New Roman MT Bold"/>
                <a:cs typeface="Times New Roman MT Bold"/>
                <a:sym typeface="Times New Roman MT Bold"/>
              </a:rPr>
              <a:t>ad Synchronization: </a:t>
            </a:r>
            <a:r>
              <a:rPr lang="en-US" sz="2399">
                <a:solidFill>
                  <a:srgbClr val="000000"/>
                </a:solidFill>
                <a:latin typeface="Times New Roman MT"/>
                <a:ea typeface="Times New Roman MT"/>
                <a:cs typeface="Times New Roman MT"/>
                <a:sym typeface="Times New Roman MT"/>
              </a:rPr>
              <a:t>To prevent data corruption when the main thread (Gradio) reads the log while the listener thread is writing to it, access must be synchronized. A</a:t>
            </a:r>
            <a:r>
              <a:rPr lang="en-US" b="true" sz="2399">
                <a:solidFill>
                  <a:srgbClr val="000000"/>
                </a:solidFill>
                <a:latin typeface="Times New Roman MT Bold"/>
                <a:ea typeface="Times New Roman MT Bold"/>
                <a:cs typeface="Times New Roman MT Bold"/>
                <a:sym typeface="Times New Roman MT Bold"/>
              </a:rPr>
              <a:t> threading.Lock </a:t>
            </a:r>
            <a:r>
              <a:rPr lang="en-US" sz="2399">
                <a:solidFill>
                  <a:srgbClr val="000000"/>
                </a:solidFill>
                <a:latin typeface="Times New Roman MT"/>
                <a:ea typeface="Times New Roman MT"/>
                <a:cs typeface="Times New Roman MT"/>
                <a:sym typeface="Times New Roman MT"/>
              </a:rPr>
              <a:t>is used to ensure only one thread can modify or read the</a:t>
            </a:r>
            <a:r>
              <a:rPr lang="en-US" b="true" sz="2399">
                <a:solidFill>
                  <a:srgbClr val="000000"/>
                </a:solidFill>
                <a:latin typeface="Times New Roman MT Bold"/>
                <a:ea typeface="Times New Roman MT Bold"/>
                <a:cs typeface="Times New Roman MT Bold"/>
                <a:sym typeface="Times New Roman MT Bold"/>
              </a:rPr>
              <a:t> log_string </a:t>
            </a:r>
            <a:r>
              <a:rPr lang="en-US" sz="2399">
                <a:solidFill>
                  <a:srgbClr val="000000"/>
                </a:solidFill>
                <a:latin typeface="Times New Roman MT"/>
                <a:ea typeface="Times New Roman MT"/>
                <a:cs typeface="Times New Roman MT"/>
                <a:sym typeface="Times New Roman MT"/>
              </a:rPr>
              <a:t>at any given moment.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p:nvPr/>
        </p:nvGrpSpPr>
        <p:grpSpPr>
          <a:xfrm rot="0">
            <a:off x="673099" y="362659"/>
            <a:ext cx="14374851" cy="9205700"/>
            <a:chOff x="0" y="0"/>
            <a:chExt cx="3785969" cy="2424546"/>
          </a:xfrm>
        </p:grpSpPr>
        <p:sp>
          <p:nvSpPr>
            <p:cNvPr name="Freeform 36" id="36"/>
            <p:cNvSpPr/>
            <p:nvPr/>
          </p:nvSpPr>
          <p:spPr>
            <a:xfrm flipH="false" flipV="false" rot="0">
              <a:off x="0" y="0"/>
              <a:ext cx="3785969" cy="2424546"/>
            </a:xfrm>
            <a:custGeom>
              <a:avLst/>
              <a:gdLst/>
              <a:ahLst/>
              <a:cxnLst/>
              <a:rect r="r" b="b" t="t" l="l"/>
              <a:pathLst>
                <a:path h="2424546" w="3785969">
                  <a:moveTo>
                    <a:pt x="27467" y="0"/>
                  </a:moveTo>
                  <a:lnTo>
                    <a:pt x="3758502" y="0"/>
                  </a:lnTo>
                  <a:cubicBezTo>
                    <a:pt x="3765786" y="0"/>
                    <a:pt x="3772773" y="2894"/>
                    <a:pt x="3777924" y="8045"/>
                  </a:cubicBezTo>
                  <a:cubicBezTo>
                    <a:pt x="3783075" y="13196"/>
                    <a:pt x="3785969" y="20182"/>
                    <a:pt x="3785969" y="27467"/>
                  </a:cubicBezTo>
                  <a:lnTo>
                    <a:pt x="3785969" y="2397079"/>
                  </a:lnTo>
                  <a:cubicBezTo>
                    <a:pt x="3785969" y="2412249"/>
                    <a:pt x="3773671" y="2424546"/>
                    <a:pt x="3758502" y="2424546"/>
                  </a:cubicBezTo>
                  <a:lnTo>
                    <a:pt x="27467" y="2424546"/>
                  </a:lnTo>
                  <a:cubicBezTo>
                    <a:pt x="12298" y="2424546"/>
                    <a:pt x="0" y="2412249"/>
                    <a:pt x="0" y="2397079"/>
                  </a:cubicBezTo>
                  <a:lnTo>
                    <a:pt x="0" y="27467"/>
                  </a:lnTo>
                  <a:cubicBezTo>
                    <a:pt x="0" y="20182"/>
                    <a:pt x="2894" y="13196"/>
                    <a:pt x="8045" y="8045"/>
                  </a:cubicBezTo>
                  <a:cubicBezTo>
                    <a:pt x="13196" y="2894"/>
                    <a:pt x="20182" y="0"/>
                    <a:pt x="27467" y="0"/>
                  </a:cubicBezTo>
                  <a:close/>
                </a:path>
              </a:pathLst>
            </a:custGeom>
            <a:gradFill rotWithShape="true">
              <a:gsLst>
                <a:gs pos="0">
                  <a:srgbClr val="CDFFD8">
                    <a:alpha val="50000"/>
                  </a:srgbClr>
                </a:gs>
                <a:gs pos="100000">
                  <a:srgbClr val="94B9FF">
                    <a:alpha val="50000"/>
                  </a:srgbClr>
                </a:gs>
              </a:gsLst>
              <a:lin ang="0"/>
            </a:gradFill>
          </p:spPr>
        </p:sp>
        <p:sp>
          <p:nvSpPr>
            <p:cNvPr name="TextBox 37" id="37"/>
            <p:cNvSpPr txBox="true"/>
            <p:nvPr/>
          </p:nvSpPr>
          <p:spPr>
            <a:xfrm>
              <a:off x="0" y="-9525"/>
              <a:ext cx="3785969" cy="2434071"/>
            </a:xfrm>
            <a:prstGeom prst="rect">
              <a:avLst/>
            </a:prstGeom>
          </p:spPr>
          <p:txBody>
            <a:bodyPr anchor="ctr" rtlCol="false" tIns="50800" lIns="50800" bIns="50800" rIns="50800"/>
            <a:lstStyle/>
            <a:p>
              <a:pPr algn="ctr">
                <a:lnSpc>
                  <a:spcPts val="1980"/>
                </a:lnSpc>
              </a:pPr>
            </a:p>
          </p:txBody>
        </p:sp>
      </p:grpSp>
      <p:sp>
        <p:nvSpPr>
          <p:cNvPr name="TextBox 38" id="38"/>
          <p:cNvSpPr txBox="true"/>
          <p:nvPr/>
        </p:nvSpPr>
        <p:spPr>
          <a:xfrm rot="0">
            <a:off x="957025" y="589587"/>
            <a:ext cx="14886225" cy="1122046"/>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9" id="39"/>
          <p:cNvGrpSpPr>
            <a:grpSpLocks noChangeAspect="true"/>
          </p:cNvGrpSpPr>
          <p:nvPr/>
        </p:nvGrpSpPr>
        <p:grpSpPr>
          <a:xfrm rot="0">
            <a:off x="1082038" y="9265206"/>
            <a:ext cx="3271838" cy="728662"/>
            <a:chOff x="0" y="0"/>
            <a:chExt cx="4362450" cy="971550"/>
          </a:xfrm>
        </p:grpSpPr>
        <p:sp>
          <p:nvSpPr>
            <p:cNvPr name="Freeform 40" id="40"/>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2"/>
              <a:stretch>
                <a:fillRect l="0" t="0" r="0" b="0"/>
              </a:stretch>
            </a:blipFill>
          </p:spPr>
        </p:sp>
      </p:grpSp>
      <p:sp>
        <p:nvSpPr>
          <p:cNvPr name="TextBox 41" id="41"/>
          <p:cNvSpPr txBox="true"/>
          <p:nvPr/>
        </p:nvSpPr>
        <p:spPr>
          <a:xfrm rot="0">
            <a:off x="1082038" y="2079625"/>
            <a:ext cx="11478261" cy="6543675"/>
          </a:xfrm>
          <a:prstGeom prst="rect">
            <a:avLst/>
          </a:prstGeom>
        </p:spPr>
        <p:txBody>
          <a:bodyPr anchor="t" rtlCol="false" tIns="0" lIns="0" bIns="0" rIns="0">
            <a:spAutoFit/>
          </a:bodyPr>
          <a:lstStyle/>
          <a:p>
            <a:pPr algn="l">
              <a:lnSpc>
                <a:spcPts val="3719"/>
              </a:lnSpc>
            </a:pPr>
            <a:r>
              <a:rPr lang="en-US" sz="3099" b="true">
                <a:solidFill>
                  <a:srgbClr val="000000"/>
                </a:solidFill>
                <a:latin typeface="Times New Roman MT Bold"/>
                <a:ea typeface="Times New Roman MT Bold"/>
                <a:cs typeface="Times New Roman MT Bold"/>
                <a:sym typeface="Times New Roman MT Bold"/>
              </a:rPr>
              <a:t>POTENTIAL END USERS</a:t>
            </a:r>
          </a:p>
          <a:p>
            <a:pPr algn="l">
              <a:lnSpc>
                <a:spcPts val="2040"/>
              </a:lnSpc>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1. </a:t>
            </a:r>
            <a:r>
              <a:rPr lang="en-US" b="true" sz="2699">
                <a:solidFill>
                  <a:srgbClr val="000000"/>
                </a:solidFill>
                <a:latin typeface="Times New Roman MT Bold"/>
                <a:ea typeface="Times New Roman MT Bold"/>
                <a:cs typeface="Times New Roman MT Bold"/>
                <a:sym typeface="Times New Roman MT Bold"/>
              </a:rPr>
              <a:t>Home and Family Users (Parental Monitoring):</a:t>
            </a:r>
            <a:r>
              <a:rPr lang="en-US" sz="2699">
                <a:solidFill>
                  <a:srgbClr val="000000"/>
                </a:solidFill>
                <a:latin typeface="Times New Roman MT"/>
                <a:ea typeface="Times New Roman MT"/>
                <a:cs typeface="Times New Roman MT"/>
                <a:sym typeface="Times New Roman MT"/>
              </a:rPr>
              <a:t> To ensure the safety of minors online by captur</a:t>
            </a:r>
            <a:r>
              <a:rPr lang="en-US" sz="2699">
                <a:solidFill>
                  <a:srgbClr val="000000"/>
                </a:solidFill>
                <a:latin typeface="Times New Roman MT"/>
                <a:ea typeface="Times New Roman MT"/>
                <a:cs typeface="Times New Roman MT"/>
                <a:sym typeface="Times New Roman MT"/>
              </a:rPr>
              <a:t>ing se</a:t>
            </a:r>
            <a:r>
              <a:rPr lang="en-US" sz="2699">
                <a:solidFill>
                  <a:srgbClr val="000000"/>
                </a:solidFill>
                <a:latin typeface="Times New Roman MT"/>
                <a:ea typeface="Times New Roman MT"/>
                <a:cs typeface="Times New Roman MT"/>
                <a:sym typeface="Times New Roman MT"/>
              </a:rPr>
              <a:t>a</a:t>
            </a:r>
            <a:r>
              <a:rPr lang="en-US" sz="2699">
                <a:solidFill>
                  <a:srgbClr val="000000"/>
                </a:solidFill>
                <a:latin typeface="Times New Roman MT"/>
                <a:ea typeface="Times New Roman MT"/>
                <a:cs typeface="Times New Roman MT"/>
                <a:sym typeface="Times New Roman MT"/>
              </a:rPr>
              <a:t>r</a:t>
            </a:r>
            <a:r>
              <a:rPr lang="en-US" sz="2699">
                <a:solidFill>
                  <a:srgbClr val="000000"/>
                </a:solidFill>
                <a:latin typeface="Times New Roman MT"/>
                <a:ea typeface="Times New Roman MT"/>
                <a:cs typeface="Times New Roman MT"/>
                <a:sym typeface="Times New Roman MT"/>
              </a:rPr>
              <a:t>ch queries, chat conversations, and social media inputs. They are </a:t>
            </a:r>
            <a:r>
              <a:rPr lang="en-US" sz="2699">
                <a:solidFill>
                  <a:srgbClr val="000000"/>
                </a:solidFill>
                <a:latin typeface="Times New Roman MT"/>
                <a:ea typeface="Times New Roman MT"/>
                <a:cs typeface="Times New Roman MT"/>
                <a:sym typeface="Times New Roman MT"/>
              </a:rPr>
              <a:t>l</a:t>
            </a:r>
            <a:r>
              <a:rPr lang="en-US" sz="2699">
                <a:solidFill>
                  <a:srgbClr val="000000"/>
                </a:solidFill>
                <a:latin typeface="Times New Roman MT"/>
                <a:ea typeface="Times New Roman MT"/>
                <a:cs typeface="Times New Roman MT"/>
                <a:sym typeface="Times New Roman MT"/>
              </a:rPr>
              <a:t>ook</a:t>
            </a:r>
            <a:r>
              <a:rPr lang="en-US" sz="2699">
                <a:solidFill>
                  <a:srgbClr val="000000"/>
                </a:solidFill>
                <a:latin typeface="Times New Roman MT"/>
                <a:ea typeface="Times New Roman MT"/>
                <a:cs typeface="Times New Roman MT"/>
                <a:sym typeface="Times New Roman MT"/>
              </a:rPr>
              <a:t>ing </a:t>
            </a:r>
            <a:r>
              <a:rPr lang="en-US" sz="2699">
                <a:solidFill>
                  <a:srgbClr val="000000"/>
                </a:solidFill>
                <a:latin typeface="Times New Roman MT"/>
                <a:ea typeface="Times New Roman MT"/>
                <a:cs typeface="Times New Roman MT"/>
                <a:sym typeface="Times New Roman MT"/>
              </a:rPr>
              <a:t>for </a:t>
            </a:r>
            <a:r>
              <a:rPr lang="en-US" sz="2699">
                <a:solidFill>
                  <a:srgbClr val="000000"/>
                </a:solidFill>
                <a:latin typeface="Times New Roman MT"/>
                <a:ea typeface="Times New Roman MT"/>
                <a:cs typeface="Times New Roman MT"/>
                <a:sym typeface="Times New Roman MT"/>
              </a:rPr>
              <a:t>a</a:t>
            </a:r>
            <a:r>
              <a:rPr lang="en-US" sz="2699">
                <a:solidFill>
                  <a:srgbClr val="000000"/>
                </a:solidFill>
                <a:latin typeface="Times New Roman MT"/>
                <a:ea typeface="Times New Roman MT"/>
                <a:cs typeface="Times New Roman MT"/>
                <a:sym typeface="Times New Roman MT"/>
              </a:rPr>
              <a:t> </a:t>
            </a:r>
            <a:r>
              <a:rPr lang="en-US" sz="2699">
                <a:solidFill>
                  <a:srgbClr val="000000"/>
                </a:solidFill>
                <a:latin typeface="Times New Roman MT"/>
                <a:ea typeface="Times New Roman MT"/>
                <a:cs typeface="Times New Roman MT"/>
                <a:sym typeface="Times New Roman MT"/>
              </a:rPr>
              <a:t>si</a:t>
            </a:r>
            <a:r>
              <a:rPr lang="en-US" sz="2699">
                <a:solidFill>
                  <a:srgbClr val="000000"/>
                </a:solidFill>
                <a:latin typeface="Times New Roman MT"/>
                <a:ea typeface="Times New Roman MT"/>
                <a:cs typeface="Times New Roman MT"/>
                <a:sym typeface="Times New Roman MT"/>
              </a:rPr>
              <a:t>mple,</a:t>
            </a:r>
            <a:r>
              <a:rPr lang="en-US" sz="2699">
                <a:solidFill>
                  <a:srgbClr val="000000"/>
                </a:solidFill>
                <a:latin typeface="Times New Roman MT"/>
                <a:ea typeface="Times New Roman MT"/>
                <a:cs typeface="Times New Roman MT"/>
                <a:sym typeface="Times New Roman MT"/>
              </a:rPr>
              <a:t> </a:t>
            </a:r>
            <a:r>
              <a:rPr lang="en-US" sz="2699">
                <a:solidFill>
                  <a:srgbClr val="000000"/>
                </a:solidFill>
                <a:latin typeface="Times New Roman MT"/>
                <a:ea typeface="Times New Roman MT"/>
                <a:cs typeface="Times New Roman MT"/>
                <a:sym typeface="Times New Roman MT"/>
              </a:rPr>
              <a:t>n</a:t>
            </a:r>
            <a:r>
              <a:rPr lang="en-US" sz="2699">
                <a:solidFill>
                  <a:srgbClr val="000000"/>
                </a:solidFill>
                <a:latin typeface="Times New Roman MT"/>
                <a:ea typeface="Times New Roman MT"/>
                <a:cs typeface="Times New Roman MT"/>
                <a:sym typeface="Times New Roman MT"/>
              </a:rPr>
              <a:t>on</a:t>
            </a:r>
            <a:r>
              <a:rPr lang="en-US" sz="2699">
                <a:solidFill>
                  <a:srgbClr val="000000"/>
                </a:solidFill>
                <a:latin typeface="Times New Roman MT"/>
                <a:ea typeface="Times New Roman MT"/>
                <a:cs typeface="Times New Roman MT"/>
                <a:sym typeface="Times New Roman MT"/>
              </a:rPr>
              <a:t>-</a:t>
            </a:r>
            <a:r>
              <a:rPr lang="en-US" sz="2699">
                <a:solidFill>
                  <a:srgbClr val="000000"/>
                </a:solidFill>
                <a:latin typeface="Times New Roman MT"/>
                <a:ea typeface="Times New Roman MT"/>
                <a:cs typeface="Times New Roman MT"/>
                <a:sym typeface="Times New Roman MT"/>
              </a:rPr>
              <a:t>te</a:t>
            </a:r>
            <a:r>
              <a:rPr lang="en-US" sz="2699">
                <a:solidFill>
                  <a:srgbClr val="000000"/>
                </a:solidFill>
                <a:latin typeface="Times New Roman MT"/>
                <a:ea typeface="Times New Roman MT"/>
                <a:cs typeface="Times New Roman MT"/>
                <a:sym typeface="Times New Roman MT"/>
              </a:rPr>
              <a:t>ch</a:t>
            </a:r>
            <a:r>
              <a:rPr lang="en-US" sz="2699">
                <a:solidFill>
                  <a:srgbClr val="000000"/>
                </a:solidFill>
                <a:latin typeface="Times New Roman MT"/>
                <a:ea typeface="Times New Roman MT"/>
                <a:cs typeface="Times New Roman MT"/>
                <a:sym typeface="Times New Roman MT"/>
              </a:rPr>
              <a:t>ni</a:t>
            </a:r>
            <a:r>
              <a:rPr lang="en-US" sz="2699">
                <a:solidFill>
                  <a:srgbClr val="000000"/>
                </a:solidFill>
                <a:latin typeface="Times New Roman MT"/>
                <a:ea typeface="Times New Roman MT"/>
                <a:cs typeface="Times New Roman MT"/>
                <a:sym typeface="Times New Roman MT"/>
              </a:rPr>
              <a:t>ca</a:t>
            </a:r>
            <a:r>
              <a:rPr lang="en-US" sz="2699">
                <a:solidFill>
                  <a:srgbClr val="000000"/>
                </a:solidFill>
                <a:latin typeface="Times New Roman MT"/>
                <a:ea typeface="Times New Roman MT"/>
                <a:cs typeface="Times New Roman MT"/>
                <a:sym typeface="Times New Roman MT"/>
              </a:rPr>
              <a:t>l</a:t>
            </a:r>
            <a:r>
              <a:rPr lang="en-US" sz="2699">
                <a:solidFill>
                  <a:srgbClr val="000000"/>
                </a:solidFill>
                <a:latin typeface="Times New Roman MT"/>
                <a:ea typeface="Times New Roman MT"/>
                <a:cs typeface="Times New Roman MT"/>
                <a:sym typeface="Times New Roman MT"/>
              </a:rPr>
              <a:t> way to review the activity that occurred on the device. </a:t>
            </a:r>
          </a:p>
          <a:p>
            <a:pPr algn="l">
              <a:lnSpc>
                <a:spcPts val="1199"/>
              </a:lnSpc>
              <a:spcBef>
                <a:spcPct val="0"/>
              </a:spcBef>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2. </a:t>
            </a:r>
            <a:r>
              <a:rPr lang="en-US" b="true" sz="2699">
                <a:solidFill>
                  <a:srgbClr val="000000"/>
                </a:solidFill>
                <a:latin typeface="Times New Roman MT Bold"/>
                <a:ea typeface="Times New Roman MT Bold"/>
                <a:cs typeface="Times New Roman MT Bold"/>
                <a:sym typeface="Times New Roman MT Bold"/>
              </a:rPr>
              <a:t>Cybersecurity Students and Educators:</a:t>
            </a:r>
            <a:r>
              <a:rPr lang="en-US" sz="2699">
                <a:solidFill>
                  <a:srgbClr val="000000"/>
                </a:solidFill>
                <a:latin typeface="Times New Roman MT"/>
                <a:ea typeface="Times New Roman MT"/>
                <a:cs typeface="Times New Roman MT"/>
                <a:sym typeface="Times New Roman MT"/>
              </a:rPr>
              <a:t> To understand how logging utilities work, how to capture raw system input, and how to defend against such tools. </a:t>
            </a:r>
          </a:p>
          <a:p>
            <a:pPr algn="l">
              <a:lnSpc>
                <a:spcPts val="1199"/>
              </a:lnSpc>
              <a:spcBef>
                <a:spcPct val="0"/>
              </a:spcBef>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3. </a:t>
            </a:r>
            <a:r>
              <a:rPr lang="en-US" b="true" sz="2699">
                <a:solidFill>
                  <a:srgbClr val="000000"/>
                </a:solidFill>
                <a:latin typeface="Times New Roman MT Bold"/>
                <a:ea typeface="Times New Roman MT Bold"/>
                <a:cs typeface="Times New Roman MT Bold"/>
                <a:sym typeface="Times New Roman MT Bold"/>
              </a:rPr>
              <a:t>Small Business Owners / IT Administrators (Auditing):</a:t>
            </a:r>
            <a:r>
              <a:rPr lang="en-US" sz="2699">
                <a:solidFill>
                  <a:srgbClr val="000000"/>
                </a:solidFill>
                <a:latin typeface="Times New Roman MT"/>
                <a:ea typeface="Times New Roman MT"/>
                <a:cs typeface="Times New Roman MT"/>
                <a:sym typeface="Times New Roman MT"/>
              </a:rPr>
              <a:t> To perform internal auditing of actions on company-owned machines to ensure compliance with security policies (e.g., verifying that employees are not typing credentials into public websites). </a:t>
            </a:r>
          </a:p>
          <a:p>
            <a:pPr algn="l">
              <a:lnSpc>
                <a:spcPts val="1199"/>
              </a:lnSpc>
              <a:spcBef>
                <a:spcPct val="0"/>
              </a:spcBef>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4. </a:t>
            </a:r>
            <a:r>
              <a:rPr lang="en-US" b="true" sz="2699">
                <a:solidFill>
                  <a:srgbClr val="000000"/>
                </a:solidFill>
                <a:latin typeface="Times New Roman MT Bold"/>
                <a:ea typeface="Times New Roman MT Bold"/>
                <a:cs typeface="Times New Roman MT Bold"/>
                <a:sym typeface="Times New Roman MT Bold"/>
              </a:rPr>
              <a:t>Self-Auditors and Developers:</a:t>
            </a:r>
            <a:r>
              <a:rPr lang="en-US" sz="2699">
                <a:solidFill>
                  <a:srgbClr val="000000"/>
                </a:solidFill>
                <a:latin typeface="Times New Roman MT"/>
                <a:ea typeface="Times New Roman MT"/>
                <a:cs typeface="Times New Roman MT"/>
                <a:sym typeface="Times New Roman MT"/>
              </a:rPr>
              <a:t> To track time spent typing, audit keystroke counts for productivity analysis, or recover lost work (like an un-saved note or snippet of code).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4"/>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a:ln w="12700">
              <a:solidFill>
                <a:srgbClr val="000000"/>
              </a:solidFill>
            </a:ln>
          </p:spPr>
        </p:sp>
      </p:grpSp>
      <p:grpSp>
        <p:nvGrpSpPr>
          <p:cNvPr name="Group 31" id="31"/>
          <p:cNvGrpSpPr/>
          <p:nvPr/>
        </p:nvGrpSpPr>
        <p:grpSpPr>
          <a:xfrm rot="0">
            <a:off x="16510869" y="8408991"/>
            <a:ext cx="981340" cy="981340"/>
            <a:chOff x="0" y="0"/>
            <a:chExt cx="1308454" cy="1308454"/>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a:ln w="12700">
              <a:solidFill>
                <a:srgbClr val="000000"/>
              </a:solidFill>
            </a:ln>
          </p:spPr>
        </p:sp>
      </p:grpSp>
      <p:grpSp>
        <p:nvGrpSpPr>
          <p:cNvPr name="Group 33" id="33"/>
          <p:cNvGrpSpPr/>
          <p:nvPr/>
        </p:nvGrpSpPr>
        <p:grpSpPr>
          <a:xfrm rot="0">
            <a:off x="16025686" y="9198658"/>
            <a:ext cx="376728" cy="376728"/>
            <a:chOff x="0" y="0"/>
            <a:chExt cx="502304" cy="502304"/>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701038" y="9615692"/>
            <a:ext cx="5559380" cy="444138"/>
            <a:chOff x="0" y="0"/>
            <a:chExt cx="7412506" cy="592184"/>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3"/>
              <a:stretch>
                <a:fillRect l="0" t="0" r="0" b="2"/>
              </a:stretch>
            </a:blipFill>
          </p:spPr>
        </p:sp>
      </p:grpSp>
      <p:grpSp>
        <p:nvGrpSpPr>
          <p:cNvPr name="Group 37" id="37"/>
          <p:cNvGrpSpPr>
            <a:grpSpLocks noChangeAspect="true"/>
          </p:cNvGrpSpPr>
          <p:nvPr/>
        </p:nvGrpSpPr>
        <p:grpSpPr>
          <a:xfrm rot="0">
            <a:off x="76200" y="5730240"/>
            <a:ext cx="2590800" cy="4515036"/>
            <a:chOff x="0" y="0"/>
            <a:chExt cx="3454400" cy="6020048"/>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4"/>
              <a:stretch>
                <a:fillRect l="-5923" t="0" r="-5923" b="0"/>
              </a:stretch>
            </a:blipFill>
          </p:spPr>
        </p:sp>
      </p:grpSp>
      <p:grpSp>
        <p:nvGrpSpPr>
          <p:cNvPr name="Group 39" id="39"/>
          <p:cNvGrpSpPr/>
          <p:nvPr/>
        </p:nvGrpSpPr>
        <p:grpSpPr>
          <a:xfrm rot="0">
            <a:off x="633959" y="502181"/>
            <a:ext cx="14374851" cy="9205700"/>
            <a:chOff x="0" y="0"/>
            <a:chExt cx="3785969" cy="2424546"/>
          </a:xfrm>
        </p:grpSpPr>
        <p:sp>
          <p:nvSpPr>
            <p:cNvPr name="Freeform 40" id="40"/>
            <p:cNvSpPr/>
            <p:nvPr/>
          </p:nvSpPr>
          <p:spPr>
            <a:xfrm flipH="false" flipV="false" rot="0">
              <a:off x="0" y="0"/>
              <a:ext cx="3785969" cy="2424546"/>
            </a:xfrm>
            <a:custGeom>
              <a:avLst/>
              <a:gdLst/>
              <a:ahLst/>
              <a:cxnLst/>
              <a:rect r="r" b="b" t="t" l="l"/>
              <a:pathLst>
                <a:path h="2424546" w="3785969">
                  <a:moveTo>
                    <a:pt x="27467" y="0"/>
                  </a:moveTo>
                  <a:lnTo>
                    <a:pt x="3758502" y="0"/>
                  </a:lnTo>
                  <a:cubicBezTo>
                    <a:pt x="3765786" y="0"/>
                    <a:pt x="3772773" y="2894"/>
                    <a:pt x="3777924" y="8045"/>
                  </a:cubicBezTo>
                  <a:cubicBezTo>
                    <a:pt x="3783075" y="13196"/>
                    <a:pt x="3785969" y="20182"/>
                    <a:pt x="3785969" y="27467"/>
                  </a:cubicBezTo>
                  <a:lnTo>
                    <a:pt x="3785969" y="2397079"/>
                  </a:lnTo>
                  <a:cubicBezTo>
                    <a:pt x="3785969" y="2412249"/>
                    <a:pt x="3773671" y="2424546"/>
                    <a:pt x="3758502" y="2424546"/>
                  </a:cubicBezTo>
                  <a:lnTo>
                    <a:pt x="27467" y="2424546"/>
                  </a:lnTo>
                  <a:cubicBezTo>
                    <a:pt x="12298" y="2424546"/>
                    <a:pt x="0" y="2412249"/>
                    <a:pt x="0" y="2397079"/>
                  </a:cubicBezTo>
                  <a:lnTo>
                    <a:pt x="0" y="27467"/>
                  </a:lnTo>
                  <a:cubicBezTo>
                    <a:pt x="0" y="20182"/>
                    <a:pt x="2894" y="13196"/>
                    <a:pt x="8045" y="8045"/>
                  </a:cubicBezTo>
                  <a:cubicBezTo>
                    <a:pt x="13196" y="2894"/>
                    <a:pt x="20182" y="0"/>
                    <a:pt x="27467"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785969" cy="2434071"/>
            </a:xfrm>
            <a:prstGeom prst="rect">
              <a:avLst/>
            </a:prstGeom>
          </p:spPr>
          <p:txBody>
            <a:bodyPr anchor="ctr" rtlCol="false" tIns="50800" lIns="50800" bIns="50800" rIns="50800"/>
            <a:lstStyle/>
            <a:p>
              <a:pPr algn="ctr">
                <a:lnSpc>
                  <a:spcPts val="1980"/>
                </a:lnSpc>
              </a:pPr>
            </a:p>
          </p:txBody>
        </p:sp>
      </p:grpSp>
      <p:sp>
        <p:nvSpPr>
          <p:cNvPr name="TextBox 42" id="42"/>
          <p:cNvSpPr txBox="true"/>
          <p:nvPr/>
        </p:nvSpPr>
        <p:spPr>
          <a:xfrm rot="0">
            <a:off x="1082038" y="672520"/>
            <a:ext cx="7776557" cy="119933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43" id="43"/>
          <p:cNvSpPr txBox="true"/>
          <p:nvPr/>
        </p:nvSpPr>
        <p:spPr>
          <a:xfrm rot="0">
            <a:off x="979040" y="2088649"/>
            <a:ext cx="13684689" cy="7749112"/>
          </a:xfrm>
          <a:prstGeom prst="rect">
            <a:avLst/>
          </a:prstGeom>
        </p:spPr>
        <p:txBody>
          <a:bodyPr anchor="t" rtlCol="false" tIns="0" lIns="0" bIns="0" rIns="0">
            <a:spAutoFit/>
          </a:bodyPr>
          <a:lstStyle/>
          <a:p>
            <a:pPr algn="l">
              <a:lnSpc>
                <a:spcPts val="3120"/>
              </a:lnSpc>
            </a:pPr>
            <a:r>
              <a:rPr lang="en-US" sz="2600" b="true">
                <a:solidFill>
                  <a:srgbClr val="000000"/>
                </a:solidFill>
                <a:latin typeface="Times New Roman MT Bold"/>
                <a:ea typeface="Times New Roman MT Bold"/>
                <a:cs typeface="Times New Roman MT Bold"/>
                <a:sym typeface="Times New Roman MT Bold"/>
              </a:rPr>
              <a:t>TECHNOLOGIES AND LANGUAGES</a:t>
            </a:r>
          </a:p>
          <a:p>
            <a:pPr algn="l">
              <a:lnSpc>
                <a:spcPts val="1200"/>
              </a:lnSpc>
              <a:spcBef>
                <a:spcPct val="0"/>
              </a:spcBef>
            </a:pP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Python:</a:t>
            </a:r>
            <a:r>
              <a:rPr lang="en-US" sz="2600">
                <a:solidFill>
                  <a:srgbClr val="000000"/>
                </a:solidFill>
                <a:latin typeface="Times New Roman MT"/>
                <a:ea typeface="Times New Roman MT"/>
                <a:cs typeface="Times New Roman MT"/>
                <a:sym typeface="Times New Roman MT"/>
              </a:rPr>
              <a:t> Python is the main execution language. It handles all the backend logic, data processing (string concatenation, logging), state management, threading, and is the environment in which all the libraries run. </a:t>
            </a: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pynput (Python library):</a:t>
            </a:r>
            <a:r>
              <a:rPr lang="en-US" sz="2600">
                <a:solidFill>
                  <a:srgbClr val="000000"/>
                </a:solidFill>
                <a:latin typeface="Times New Roman MT"/>
                <a:ea typeface="Times New Roman MT"/>
                <a:cs typeface="Times New Roman MT"/>
                <a:sym typeface="Times New Roman MT"/>
              </a:rPr>
              <a:t> The essential component. It provides the low-level keyboard listener algorithm that captures global keystrokes across the operating system, regardless of the active application. </a:t>
            </a: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threading (Python library): </a:t>
            </a:r>
            <a:r>
              <a:rPr lang="en-US" sz="2600">
                <a:solidFill>
                  <a:srgbClr val="000000"/>
                </a:solidFill>
                <a:latin typeface="Times New Roman MT"/>
                <a:ea typeface="Times New Roman MT"/>
                <a:cs typeface="Times New Roman MT"/>
                <a:sym typeface="Times New Roman MT"/>
              </a:rPr>
              <a:t>Used for </a:t>
            </a:r>
            <a:r>
              <a:rPr lang="en-US" b="true" sz="2600">
                <a:solidFill>
                  <a:srgbClr val="000000"/>
                </a:solidFill>
                <a:latin typeface="Times New Roman MT Bold"/>
                <a:ea typeface="Times New Roman MT Bold"/>
                <a:cs typeface="Times New Roman MT Bold"/>
                <a:sym typeface="Times New Roman MT Bold"/>
              </a:rPr>
              <a:t>concurrency</a:t>
            </a:r>
            <a:r>
              <a:rPr lang="en-US" sz="2600">
                <a:solidFill>
                  <a:srgbClr val="000000"/>
                </a:solidFill>
                <a:latin typeface="Times New Roman MT"/>
                <a:ea typeface="Times New Roman MT"/>
                <a:cs typeface="Times New Roman MT"/>
                <a:sym typeface="Times New Roman MT"/>
              </a:rPr>
              <a:t>. It ensures the key listener can run continuously in the background at the same time as the Gradio web server is active, preventing the interface from freezing. </a:t>
            </a: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Gradio (Python library): </a:t>
            </a:r>
            <a:r>
              <a:rPr lang="en-US" sz="2600">
                <a:solidFill>
                  <a:srgbClr val="000000"/>
                </a:solidFill>
                <a:latin typeface="Times New Roman MT"/>
                <a:ea typeface="Times New Roman MT"/>
                <a:cs typeface="Times New Roman MT"/>
                <a:sym typeface="Times New Roman MT"/>
              </a:rPr>
              <a:t>Provides the </a:t>
            </a:r>
            <a:r>
              <a:rPr lang="en-US" b="true" sz="2600">
                <a:solidFill>
                  <a:srgbClr val="000000"/>
                </a:solidFill>
                <a:latin typeface="Times New Roman MT Bold"/>
                <a:ea typeface="Times New Roman MT Bold"/>
                <a:cs typeface="Times New Roman MT Bold"/>
                <a:sym typeface="Times New Roman MT Bold"/>
              </a:rPr>
              <a:t>web-based user interface (UI)</a:t>
            </a:r>
            <a:r>
              <a:rPr lang="en-US" sz="2600">
                <a:solidFill>
                  <a:srgbClr val="000000"/>
                </a:solidFill>
                <a:latin typeface="Times New Roman MT"/>
                <a:ea typeface="Times New Roman MT"/>
                <a:cs typeface="Times New Roman MT"/>
                <a:sym typeface="Times New Roman MT"/>
              </a:rPr>
              <a:t>. It allows the Python functions (like </a:t>
            </a:r>
            <a:r>
              <a:rPr lang="en-US" b="true" sz="2600">
                <a:solidFill>
                  <a:srgbClr val="000000"/>
                </a:solidFill>
                <a:latin typeface="Times New Roman MT Bold"/>
                <a:ea typeface="Times New Roman MT Bold"/>
                <a:cs typeface="Times New Roman MT Bold"/>
                <a:sym typeface="Times New Roman MT Bold"/>
              </a:rPr>
              <a:t>start_logging</a:t>
            </a:r>
            <a:r>
              <a:rPr lang="en-US" sz="2600">
                <a:solidFill>
                  <a:srgbClr val="000000"/>
                </a:solidFill>
                <a:latin typeface="Times New Roman MT"/>
                <a:ea typeface="Times New Roman MT"/>
                <a:cs typeface="Times New Roman MT"/>
                <a:sym typeface="Times New Roman MT"/>
              </a:rPr>
              <a:t> and </a:t>
            </a:r>
            <a:r>
              <a:rPr lang="en-US" b="true" sz="2600">
                <a:solidFill>
                  <a:srgbClr val="000000"/>
                </a:solidFill>
                <a:latin typeface="Times New Roman MT Bold"/>
                <a:ea typeface="Times New Roman MT Bold"/>
                <a:cs typeface="Times New Roman MT Bold"/>
                <a:sym typeface="Times New Roman MT Bold"/>
              </a:rPr>
              <a:t>stop_logging</a:t>
            </a:r>
            <a:r>
              <a:rPr lang="en-US" sz="2600">
                <a:solidFill>
                  <a:srgbClr val="000000"/>
                </a:solidFill>
                <a:latin typeface="Times New Roman MT"/>
                <a:ea typeface="Times New Roman MT"/>
                <a:cs typeface="Times New Roman MT"/>
                <a:sym typeface="Times New Roman MT"/>
              </a:rPr>
              <a:t>) to be triggered by simple buttons in a browser window. </a:t>
            </a: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System-level monitoring:</a:t>
            </a:r>
            <a:r>
              <a:rPr lang="en-US" sz="2600">
                <a:solidFill>
                  <a:srgbClr val="000000"/>
                </a:solidFill>
                <a:latin typeface="Times New Roman MT"/>
                <a:ea typeface="Times New Roman MT"/>
                <a:cs typeface="Times New Roman MT"/>
                <a:sym typeface="Times New Roman MT"/>
              </a:rPr>
              <a:t> The keylogger's purpose is to monitor inputs globally across the operating system (desktop, other applications, terminal). </a:t>
            </a:r>
          </a:p>
          <a:p>
            <a:pPr algn="l" marL="561340" indent="-280670" lvl="1">
              <a:lnSpc>
                <a:spcPts val="3120"/>
              </a:lnSpc>
              <a:spcBef>
                <a:spcPct val="0"/>
              </a:spcBef>
              <a:buFont typeface="Arial"/>
              <a:buChar char="•"/>
            </a:pPr>
            <a:r>
              <a:rPr lang="en-US" b="true" sz="2600">
                <a:solidFill>
                  <a:srgbClr val="000000"/>
                </a:solidFill>
                <a:latin typeface="Times New Roman MT Bold"/>
                <a:ea typeface="Times New Roman MT Bold"/>
                <a:cs typeface="Times New Roman MT Bold"/>
                <a:sym typeface="Times New Roman MT Bold"/>
              </a:rPr>
              <a:t>Server-side execution:</a:t>
            </a:r>
            <a:r>
              <a:rPr lang="en-US" sz="2600">
                <a:solidFill>
                  <a:srgbClr val="000000"/>
                </a:solidFill>
                <a:latin typeface="Times New Roman MT"/>
                <a:ea typeface="Times New Roman MT"/>
                <a:cs typeface="Times New Roman MT"/>
                <a:sym typeface="Times New Roman MT"/>
              </a:rPr>
              <a:t> The Python script, including the </a:t>
            </a:r>
            <a:r>
              <a:rPr lang="en-US" b="true" sz="2600">
                <a:solidFill>
                  <a:srgbClr val="000000"/>
                </a:solidFill>
                <a:latin typeface="Times New Roman MT Bold"/>
                <a:ea typeface="Times New Roman MT Bold"/>
                <a:cs typeface="Times New Roman MT Bold"/>
                <a:sym typeface="Times New Roman MT Bold"/>
              </a:rPr>
              <a:t>pynput </a:t>
            </a:r>
            <a:r>
              <a:rPr lang="en-US" sz="2600">
                <a:solidFill>
                  <a:srgbClr val="000000"/>
                </a:solidFill>
                <a:latin typeface="Times New Roman MT"/>
                <a:ea typeface="Times New Roman MT"/>
                <a:cs typeface="Times New Roman MT"/>
                <a:sym typeface="Times New Roman MT"/>
              </a:rPr>
              <a:t>listener, runs entirely on the local machine's operating system (the server).</a:t>
            </a:r>
          </a:p>
          <a:p>
            <a:pPr algn="l">
              <a:lnSpc>
                <a:spcPts val="479"/>
              </a:lnSpc>
              <a:spcBef>
                <a:spcPct val="0"/>
              </a:spcBef>
            </a:pPr>
          </a:p>
          <a:p>
            <a:pPr algn="l">
              <a:lnSpc>
                <a:spcPts val="3120"/>
              </a:lnSpc>
              <a:spcBef>
                <a:spcPct val="0"/>
              </a:spcBef>
            </a:pPr>
            <a:r>
              <a:rPr lang="en-US" b="true" sz="2600">
                <a:solidFill>
                  <a:srgbClr val="000000"/>
                </a:solidFill>
                <a:latin typeface="Times New Roman MT Bold"/>
                <a:ea typeface="Times New Roman MT Bold"/>
                <a:cs typeface="Times New Roman MT Bold"/>
                <a:sym typeface="Times New Roman MT Bold"/>
              </a:rPr>
              <a:t>APPLICATION TYPE: </a:t>
            </a:r>
            <a:r>
              <a:rPr lang="en-US" sz="2600">
                <a:solidFill>
                  <a:srgbClr val="000000"/>
                </a:solidFill>
                <a:latin typeface="Times New Roman MT"/>
                <a:ea typeface="Times New Roman MT"/>
                <a:cs typeface="Times New Roman MT"/>
                <a:sym typeface="Times New Roman MT"/>
              </a:rPr>
              <a:t>Desktop application. </a:t>
            </a:r>
          </a:p>
          <a:p>
            <a:pPr algn="l">
              <a:lnSpc>
                <a:spcPts val="312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336550" y="2560392"/>
            <a:ext cx="6276868" cy="7437048"/>
          </a:xfrm>
          <a:custGeom>
            <a:avLst/>
            <a:gdLst/>
            <a:ahLst/>
            <a:cxnLst/>
            <a:rect r="r" b="b" t="t" l="l"/>
            <a:pathLst>
              <a:path h="7437048" w="6276868">
                <a:moveTo>
                  <a:pt x="0" y="0"/>
                </a:moveTo>
                <a:lnTo>
                  <a:pt x="6276868" y="0"/>
                </a:lnTo>
                <a:lnTo>
                  <a:pt x="6276868" y="7437048"/>
                </a:lnTo>
                <a:lnTo>
                  <a:pt x="0" y="7437048"/>
                </a:lnTo>
                <a:lnTo>
                  <a:pt x="0" y="0"/>
                </a:lnTo>
                <a:close/>
              </a:path>
            </a:pathLst>
          </a:custGeom>
          <a:blipFill>
            <a:blip r:embed="rId3"/>
            <a:stretch>
              <a:fillRect l="0" t="0" r="0" b="0"/>
            </a:stretch>
          </a:blipFill>
        </p:spPr>
      </p:sp>
      <p:sp>
        <p:nvSpPr>
          <p:cNvPr name="Freeform 38" id="38"/>
          <p:cNvSpPr/>
          <p:nvPr/>
        </p:nvSpPr>
        <p:spPr>
          <a:xfrm flipH="false" flipV="false" rot="0">
            <a:off x="6927743" y="2549834"/>
            <a:ext cx="11015777" cy="7437048"/>
          </a:xfrm>
          <a:custGeom>
            <a:avLst/>
            <a:gdLst/>
            <a:ahLst/>
            <a:cxnLst/>
            <a:rect r="r" b="b" t="t" l="l"/>
            <a:pathLst>
              <a:path h="7437048" w="11015777">
                <a:moveTo>
                  <a:pt x="0" y="0"/>
                </a:moveTo>
                <a:lnTo>
                  <a:pt x="11015778" y="0"/>
                </a:lnTo>
                <a:lnTo>
                  <a:pt x="11015778" y="7437047"/>
                </a:lnTo>
                <a:lnTo>
                  <a:pt x="0" y="7437047"/>
                </a:lnTo>
                <a:lnTo>
                  <a:pt x="0" y="0"/>
                </a:lnTo>
                <a:close/>
              </a:path>
            </a:pathLst>
          </a:custGeom>
          <a:blipFill>
            <a:blip r:embed="rId4"/>
            <a:stretch>
              <a:fillRect l="0" t="0" r="0" b="0"/>
            </a:stretch>
          </a:blipFill>
        </p:spPr>
      </p:sp>
      <p:sp>
        <p:nvSpPr>
          <p:cNvPr name="TextBox 39" id="39"/>
          <p:cNvSpPr txBox="true"/>
          <p:nvPr/>
        </p:nvSpPr>
        <p:spPr>
          <a:xfrm rot="0">
            <a:off x="1105376" y="582554"/>
            <a:ext cx="4289584" cy="117410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40" id="40"/>
          <p:cNvSpPr txBox="true"/>
          <p:nvPr/>
        </p:nvSpPr>
        <p:spPr>
          <a:xfrm rot="0">
            <a:off x="1105376" y="1948459"/>
            <a:ext cx="11811307" cy="400050"/>
          </a:xfrm>
          <a:prstGeom prst="rect">
            <a:avLst/>
          </a:prstGeom>
        </p:spPr>
        <p:txBody>
          <a:bodyPr anchor="t" rtlCol="false" tIns="0" lIns="0" bIns="0" rIns="0">
            <a:spAutoFit/>
          </a:bodyPr>
          <a:lstStyle/>
          <a:p>
            <a:pPr algn="l">
              <a:lnSpc>
                <a:spcPts val="3120"/>
              </a:lnSpc>
            </a:pPr>
            <a:r>
              <a:rPr lang="en-US" sz="2600" u="sng">
                <a:solidFill>
                  <a:srgbClr val="404040"/>
                </a:solidFill>
                <a:latin typeface="Trebuchet MS"/>
                <a:ea typeface="Trebuchet MS"/>
                <a:cs typeface="Trebuchet MS"/>
                <a:sym typeface="Trebuchet MS"/>
                <a:hlinkClick r:id="rId5" tooltip="https://github.com/PERSONAL-PROJECTS-2000/KEYLOG.git"/>
              </a:rPr>
              <a:t>GitHub Link: </a:t>
            </a:r>
            <a:r>
              <a:rPr lang="en-US" sz="2600" u="sng">
                <a:solidFill>
                  <a:srgbClr val="0870CF"/>
                </a:solidFill>
                <a:latin typeface="Trebuchet MS"/>
                <a:ea typeface="Trebuchet MS"/>
                <a:cs typeface="Trebuchet MS"/>
                <a:sym typeface="Trebuchet MS"/>
                <a:hlinkClick r:id="rId6" tooltip="https://github.com/PERSONAL-PROJECTS-2000/KEYLOG.git"/>
              </a:rPr>
              <a:t>https://github.com/PERSONAL-PROJECTS-2000/KEYLOG.git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66351" y="1065219"/>
            <a:ext cx="17755298" cy="8156562"/>
          </a:xfrm>
          <a:custGeom>
            <a:avLst/>
            <a:gdLst/>
            <a:ahLst/>
            <a:cxnLst/>
            <a:rect r="r" b="b" t="t" l="l"/>
            <a:pathLst>
              <a:path h="8156562" w="17755298">
                <a:moveTo>
                  <a:pt x="0" y="0"/>
                </a:moveTo>
                <a:lnTo>
                  <a:pt x="17755298" y="0"/>
                </a:lnTo>
                <a:lnTo>
                  <a:pt x="17755298" y="8156562"/>
                </a:lnTo>
                <a:lnTo>
                  <a:pt x="0" y="8156562"/>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09415" y="480652"/>
            <a:ext cx="17869171" cy="9372008"/>
          </a:xfrm>
          <a:custGeom>
            <a:avLst/>
            <a:gdLst/>
            <a:ahLst/>
            <a:cxnLst/>
            <a:rect r="r" b="b" t="t" l="l"/>
            <a:pathLst>
              <a:path h="9372008" w="17869171">
                <a:moveTo>
                  <a:pt x="0" y="0"/>
                </a:moveTo>
                <a:lnTo>
                  <a:pt x="17869170" y="0"/>
                </a:lnTo>
                <a:lnTo>
                  <a:pt x="17869170" y="9372008"/>
                </a:lnTo>
                <a:lnTo>
                  <a:pt x="0" y="937200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4" y="5201332"/>
            <a:ext cx="687402" cy="592588"/>
            <a:chOff x="0" y="0"/>
            <a:chExt cx="916536"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a:ln w="12700">
              <a:solidFill>
                <a:srgbClr val="000000"/>
              </a:solidFill>
            </a:ln>
          </p:spPr>
        </p:sp>
      </p:grpSp>
      <p:grpSp>
        <p:nvGrpSpPr>
          <p:cNvPr name="Group 31" id="31"/>
          <p:cNvGrpSpPr/>
          <p:nvPr/>
        </p:nvGrpSpPr>
        <p:grpSpPr>
          <a:xfrm rot="0">
            <a:off x="16670005" y="3592083"/>
            <a:ext cx="537586" cy="463437"/>
            <a:chOff x="0" y="0"/>
            <a:chExt cx="716782" cy="617916"/>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a:ln w="12700">
              <a:solidFill>
                <a:srgbClr val="000000"/>
              </a:solidFill>
            </a:ln>
          </p:spPr>
        </p:sp>
      </p:grpSp>
      <p:grpSp>
        <p:nvGrpSpPr>
          <p:cNvPr name="Group 33" id="33"/>
          <p:cNvGrpSpPr/>
          <p:nvPr/>
        </p:nvGrpSpPr>
        <p:grpSpPr>
          <a:xfrm rot="0">
            <a:off x="16323974" y="3303303"/>
            <a:ext cx="346032" cy="298304"/>
            <a:chOff x="0" y="0"/>
            <a:chExt cx="461376" cy="397738"/>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a:ln w="12700">
              <a:solidFill>
                <a:srgbClr val="000000"/>
              </a:solidFill>
            </a:ln>
          </p:spPr>
        </p:sp>
      </p:grpSp>
      <p:grpSp>
        <p:nvGrpSpPr>
          <p:cNvPr name="Group 35" id="35"/>
          <p:cNvGrpSpPr/>
          <p:nvPr/>
        </p:nvGrpSpPr>
        <p:grpSpPr>
          <a:xfrm rot="0">
            <a:off x="639000" y="4214801"/>
            <a:ext cx="17010000" cy="1857399"/>
            <a:chOff x="0" y="0"/>
            <a:chExt cx="22680000" cy="2476532"/>
          </a:xfrm>
        </p:grpSpPr>
        <p:sp>
          <p:nvSpPr>
            <p:cNvPr name="Freeform 36" id="36"/>
            <p:cNvSpPr/>
            <p:nvPr/>
          </p:nvSpPr>
          <p:spPr>
            <a:xfrm flipH="false" flipV="false" rot="0">
              <a:off x="0" y="0"/>
              <a:ext cx="22680000" cy="2476532"/>
            </a:xfrm>
            <a:custGeom>
              <a:avLst/>
              <a:gdLst/>
              <a:ahLst/>
              <a:cxnLst/>
              <a:rect r="r" b="b" t="t" l="l"/>
              <a:pathLst>
                <a:path h="2476532" w="22680000">
                  <a:moveTo>
                    <a:pt x="0" y="0"/>
                  </a:moveTo>
                  <a:lnTo>
                    <a:pt x="22680000" y="0"/>
                  </a:lnTo>
                  <a:lnTo>
                    <a:pt x="22680000" y="2476532"/>
                  </a:lnTo>
                  <a:lnTo>
                    <a:pt x="0" y="2476532"/>
                  </a:lnTo>
                  <a:close/>
                </a:path>
              </a:pathLst>
            </a:custGeom>
            <a:solidFill>
              <a:srgbClr val="000000">
                <a:alpha val="0"/>
              </a:srgbClr>
            </a:solidFill>
          </p:spPr>
        </p:sp>
        <p:sp>
          <p:nvSpPr>
            <p:cNvPr name="TextBox 37" id="37"/>
            <p:cNvSpPr txBox="true"/>
            <p:nvPr/>
          </p:nvSpPr>
          <p:spPr>
            <a:xfrm>
              <a:off x="0" y="-9525"/>
              <a:ext cx="22680000" cy="2486057"/>
            </a:xfrm>
            <a:prstGeom prst="rect">
              <a:avLst/>
            </a:prstGeom>
          </p:spPr>
          <p:txBody>
            <a:bodyPr anchor="ctr" rtlCol="false" tIns="0" lIns="0" bIns="0" rIns="0"/>
            <a:lstStyle/>
            <a:p>
              <a:pPr algn="ctr">
                <a:lnSpc>
                  <a:spcPts val="11999"/>
                </a:lnSpc>
              </a:pPr>
              <a:r>
                <a:rPr lang="en-US" sz="9999"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8"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4"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a:grpSpLocks noChangeAspect="true"/>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DAG7EgRakCQ</dc:identifier>
  <dcterms:modified xsi:type="dcterms:W3CDTF">2011-08-01T06:04:30Z</dcterms:modified>
  <cp:revision>1</cp:revision>
  <dc:title>PRIYADARSHINY DAS- KEYLOGGER.pptx</dc:title>
</cp:coreProperties>
</file>